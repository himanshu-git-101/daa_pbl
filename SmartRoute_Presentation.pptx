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_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10728655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703320"/>
            <a:ext cx="107286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241C1C"/>
                </a:solidFill>
                <a:latin typeface="The Seasons"/>
              </a:defRPr>
            </a:pPr>
            <a:r>
              <a:t>SMARTROUTE: ALGORITHMIC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709160"/>
            <a:ext cx="658368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DATA STRUCTURES &amp; ALGORITHMS • COMPARATIVE RESEARCH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85923"/>
                </a:solidFill>
                <a:latin typeface="Inter"/>
              </a:defRPr>
            </a:pPr>
            <a:r>
              <a:t>0/1 KNAPSACK (DP)  •  GREEDY HEURISTICS  •  DIJKSTRA'S SSSP  •  BELLMAN-FORD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41C1C"/>
                </a:solidFill>
                <a:latin typeface="Inter"/>
              </a:defRPr>
            </a:pPr>
            <a:r>
              <a:t>COURSE INSTRUCTOR: DR. SYED JAVED PASHA   |   TEAM: HIMANSHU PANDIT • DEVYANI PAWAR • HEMAN • RIMIKA JAIN   |   WOXSEN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da_roadmap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94360"/>
            <a:ext cx="4114800" cy="5623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12080" y="594360"/>
            <a:ext cx="6217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241C1C"/>
                </a:solidFill>
                <a:latin typeface="The Seasons"/>
              </a:defRPr>
            </a:pPr>
            <a: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5212080" y="1508760"/>
            <a:ext cx="402336" cy="402336"/>
          </a:xfrm>
          <a:prstGeom prst="ellipse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463039"/>
            <a:ext cx="56692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INTRODUCTION</a:t>
            </a:r>
          </a:p>
          <a:p>
            <a:pPr>
              <a:defRPr sz="1150">
                <a:solidFill>
                  <a:srgbClr val="645A55"/>
                </a:solidFill>
                <a:latin typeface="Inter"/>
              </a:defRPr>
            </a:pPr>
            <a:r>
              <a:t>Urban last-mile logistics context &amp; the 4 core DAA pillars</a:t>
            </a:r>
          </a:p>
        </p:txBody>
      </p:sp>
      <p:sp>
        <p:nvSpPr>
          <p:cNvPr id="6" name="Oval 5"/>
          <p:cNvSpPr/>
          <p:nvPr/>
        </p:nvSpPr>
        <p:spPr>
          <a:xfrm>
            <a:off x="5212080" y="2313432"/>
            <a:ext cx="402336" cy="402336"/>
          </a:xfrm>
          <a:prstGeom prst="ellipse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267712"/>
            <a:ext cx="56692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PROBLEM STATEMENT</a:t>
            </a:r>
          </a:p>
          <a:p>
            <a:pPr>
              <a:defRPr sz="1150">
                <a:solidFill>
                  <a:srgbClr val="645A55"/>
                </a:solidFill>
                <a:latin typeface="Inter"/>
              </a:defRPr>
            </a:pPr>
            <a:r>
              <a:t>Dual bottleneck: combinatorial packing &amp; congested routing</a:t>
            </a:r>
          </a:p>
        </p:txBody>
      </p:sp>
      <p:sp>
        <p:nvSpPr>
          <p:cNvPr id="8" name="Oval 7"/>
          <p:cNvSpPr/>
          <p:nvPr/>
        </p:nvSpPr>
        <p:spPr>
          <a:xfrm>
            <a:off x="5212080" y="3118103"/>
            <a:ext cx="402336" cy="402336"/>
          </a:xfrm>
          <a:prstGeom prst="ellipse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3072384"/>
            <a:ext cx="56692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LITERATURE REVIEW</a:t>
            </a:r>
          </a:p>
          <a:p>
            <a:pPr>
              <a:defRPr sz="1150">
                <a:solidFill>
                  <a:srgbClr val="645A55"/>
                </a:solidFill>
                <a:latin typeface="Inter"/>
              </a:defRPr>
            </a:pPr>
            <a:r>
              <a:t>Theoretical foundations: Bellman, Dantzig, Dijkstra, and Ford</a:t>
            </a:r>
          </a:p>
        </p:txBody>
      </p:sp>
      <p:sp>
        <p:nvSpPr>
          <p:cNvPr id="10" name="Oval 9"/>
          <p:cNvSpPr/>
          <p:nvPr/>
        </p:nvSpPr>
        <p:spPr>
          <a:xfrm>
            <a:off x="5212080" y="3922776"/>
            <a:ext cx="402336" cy="402336"/>
          </a:xfrm>
          <a:prstGeom prst="ellipse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877056"/>
            <a:ext cx="56692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METHODOLOGY</a:t>
            </a:r>
          </a:p>
          <a:p>
            <a:pPr>
              <a:defRPr sz="1150">
                <a:solidFill>
                  <a:srgbClr val="645A55"/>
                </a:solidFill>
                <a:latin typeface="Inter"/>
              </a:defRPr>
            </a:pPr>
            <a:r>
              <a:t>Mathematical formulations of Knapsack, Greedy, Dijkstra &amp; Bellman-Ford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4727448"/>
            <a:ext cx="402336" cy="402336"/>
          </a:xfrm>
          <a:prstGeom prst="ellipse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681728"/>
            <a:ext cx="56692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SOLUTION &amp; PROTOTYPE</a:t>
            </a:r>
          </a:p>
          <a:p>
            <a:pPr>
              <a:defRPr sz="1150">
                <a:solidFill>
                  <a:srgbClr val="645A55"/>
                </a:solidFill>
                <a:latin typeface="Inter"/>
              </a:defRPr>
            </a:pPr>
            <a:r>
              <a:t>SmartRoute dual-engine architecture &amp; live Google Maps dashboard</a:t>
            </a:r>
          </a:p>
        </p:txBody>
      </p:sp>
      <p:sp>
        <p:nvSpPr>
          <p:cNvPr id="14" name="Oval 13"/>
          <p:cNvSpPr/>
          <p:nvPr/>
        </p:nvSpPr>
        <p:spPr>
          <a:xfrm>
            <a:off x="5212080" y="5532120"/>
            <a:ext cx="402336" cy="402336"/>
          </a:xfrm>
          <a:prstGeom prst="ellipse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5486400"/>
            <a:ext cx="5669280" cy="685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FINAL OUTCOME / RESULTS</a:t>
            </a:r>
          </a:p>
          <a:p>
            <a:pPr>
              <a:defRPr sz="1150">
                <a:solidFill>
                  <a:srgbClr val="645A55"/>
                </a:solidFill>
                <a:latin typeface="Inter"/>
              </a:defRPr>
            </a:pPr>
            <a:r>
              <a:t>Empirical benchmark matrix, distance savings &amp; viva 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274320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01 •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241C1C"/>
                </a:solidFill>
                <a:latin typeface="The Seasons"/>
              </a:defRPr>
            </a:pPr>
            <a:r>
              <a:t>WHAT IS SMARTROUTE?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923"/>
                </a:solidFill>
                <a:latin typeface="Inter"/>
              </a:defRPr>
            </a:pPr>
            <a:r>
              <a:t>BRIDGING CLASSICAL DAA PARADIGMS WITH REAL-WORLD LOGISTICS OPTIMIZATION</a:t>
            </a:r>
          </a:p>
          <a:p>
            <a:br/>
            <a:r>
              <a:t>• Last-Mile Significance: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Accounts for over 53% of total delivery logistics expenditure in urban supply chains.</a:t>
            </a:r>
          </a:p>
          <a:p>
            <a:br/>
            <a:r>
              <a:t>• Real-World Complexity: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Managing 35+ demand locations across Hyderabad (Begumpet, HITEC City, Gachibowli, Secunderabad, Woxsen University).</a:t>
            </a:r>
          </a:p>
          <a:p>
            <a:br/>
            <a:r>
              <a:t>• Academic Focus: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Benchmarking discrete optimization (0/1 Knapsack &amp; Greedy) against shortest path graph algorithms (Dijkstra &amp; Bellman-Ford).</a:t>
            </a:r>
          </a:p>
          <a:p>
            <a:br/>
            <a:r>
              <a:t>• Production Deliverable: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A live interactive dashboard with step-by-step Min-Heap playback and 2D DP cell inspection.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051560"/>
            <a:ext cx="493776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peration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34440"/>
            <a:ext cx="45720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57150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41C1C"/>
                </a:solidFill>
                <a:latin typeface="Inter"/>
              </a:defRPr>
            </a:pPr>
            <a:r>
              <a:t>Live Interactive Google Maps Interface (Hyderabad Network)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274320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01 •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241C1C"/>
                </a:solidFill>
                <a:latin typeface="The Seasons"/>
              </a:defRPr>
            </a:pPr>
            <a:r>
              <a:t>THE FOUR CORE DAA PILLARS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01168" rIns="164592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01. KNAPSACK (DP)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Complexity: O(n · W) Pseudo-poly</a:t>
            </a:r>
          </a:p>
          <a:p>
            <a:pPr>
              <a:defRPr sz="1100" b="1">
                <a:solidFill>
                  <a:srgbClr val="4D7C0F"/>
                </a:solidFill>
                <a:latin typeface="Inter"/>
              </a:defRPr>
            </a:pPr>
            <a:r>
              <a:rPr dirty="0"/>
              <a:t>Paradigm: Global Optimum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Solves discrete 0/1 order selection within payload limit W.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2D </a:t>
            </a:r>
            <a:r>
              <a:rPr dirty="0" err="1">
                <a:solidFill>
                  <a:schemeClr val="tx1"/>
                </a:solidFill>
              </a:rPr>
              <a:t>memoization</a:t>
            </a:r>
            <a:r>
              <a:rPr dirty="0">
                <a:solidFill>
                  <a:schemeClr val="tx1"/>
                </a:solidFill>
              </a:rPr>
              <a:t> table guarantees zero wasted space.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Backtracking golden trail identifies exact parcel bundle.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737360"/>
            <a:ext cx="24688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01168" rIns="164592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02. GREEDY HEURISTICS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Complexity: O(n log n) Sort Time</a:t>
            </a:r>
          </a:p>
          <a:p>
            <a:pPr>
              <a:defRPr sz="1100" b="1">
                <a:solidFill>
                  <a:srgbClr val="4D7C0F"/>
                </a:solidFill>
                <a:latin typeface="Inter"/>
              </a:defRPr>
            </a:pPr>
            <a:r>
              <a:rPr dirty="0"/>
              <a:t>Paradigm: Fast Approximation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Priority sorting by Profit Density (Rs./kg), Deadline, Profit.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Fast heuristic execution in under 0.5 </a:t>
            </a:r>
            <a:r>
              <a:rPr dirty="0" err="1">
                <a:solidFill>
                  <a:schemeClr val="tx1"/>
                </a:solidFill>
              </a:rPr>
              <a:t>ms.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Prone to greedy traps for integer discrete cargo.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737360"/>
            <a:ext cx="24688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01168" rIns="164592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03. DIJKSTRA SSSP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Complexity: O((V + E) log V)</a:t>
            </a:r>
          </a:p>
          <a:p>
            <a:pPr>
              <a:defRPr sz="1100" b="1">
                <a:solidFill>
                  <a:srgbClr val="4D7C0F"/>
                </a:solidFill>
                <a:latin typeface="Inter"/>
              </a:defRPr>
            </a:pPr>
            <a:r>
              <a:rPr dirty="0"/>
              <a:t>Paradigm: Single-Source Shortest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Custom Binary Min-Heap Priority Queue implementation.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Invariant: Greedily finalizes vertex with minimum tentative dist.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Optimal routing across non-negative urban road networks.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737360"/>
            <a:ext cx="24688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01168" rIns="164592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04. BELLMAN-FORD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Complexity: O(V · E) Iterative DP</a:t>
            </a:r>
          </a:p>
          <a:p>
            <a:pPr>
              <a:defRPr sz="1100" b="1">
                <a:solidFill>
                  <a:srgbClr val="4D7C0F"/>
                </a:solidFill>
                <a:latin typeface="Inter"/>
              </a:defRPr>
            </a:pPr>
            <a:r>
              <a:rPr dirty="0"/>
              <a:t>Paradigm: Dynamic Edge Relaxation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Relaxes all |E| edges for |V|-1 iterations.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Models congestion penalties, toll rebates &amp; detours.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Detects negative-weight loops preventing routing anomalies.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rban_problem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94360"/>
            <a:ext cx="4114800" cy="5623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212080" y="594360"/>
            <a:ext cx="310896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02 •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0" y="1051560"/>
            <a:ext cx="62179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241C1C"/>
                </a:solidFill>
                <a:latin typeface="The Seasons"/>
              </a:defRPr>
            </a:pPr>
            <a:r>
              <a:t>THE DUAL BOTTLENECK IN URBAN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01168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923"/>
                </a:solidFill>
                <a:latin typeface="Inter"/>
              </a:defRPr>
            </a:pPr>
            <a:r>
              <a:t>TWO MATHEMATICAL HURDLES IN SCALABLE DISPATCHING:</a:t>
            </a:r>
          </a:p>
          <a:p>
            <a:br/>
            <a:r>
              <a:t>1. Combinatorial Cargo Explosion: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With 35+ customer orders and strict vehicle weight limits (e.g. 100 kg), evaluating all 2^35 (34.3 billion) order subsets is impossible. Naive heuristics cause payload voids and lost revenue.</a:t>
            </a:r>
          </a:p>
          <a:p>
            <a:br/>
            <a:r>
              <a:t>2. Spatial Route Inefficiencies: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Hyderabad's congested road network demands optimal waypoint sequencing. Suboptimal routing causes 69+ km excess transit and severe fuel waste.</a:t>
            </a:r>
          </a:p>
          <a:p>
            <a:br/>
            <a:r>
              <a:t>3. Real-Time Operational Latency: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Algorithms must run in sub-50 milliseconds to handle continuous live dispatch requests.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310896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02 •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241C1C"/>
                </a:solidFill>
                <a:latin typeface="The Seasons"/>
              </a:defRPr>
            </a:pPr>
            <a:r>
              <a:t>ALGORITHMIC TRADE-OFF TRILEMMA</a:t>
            </a:r>
          </a:p>
        </p:txBody>
      </p:sp>
      <p:pic>
        <p:nvPicPr>
          <p:cNvPr id="4" name="Picture 3" descr="diag_knapsack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3328416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166360"/>
            <a:ext cx="332841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41C1C"/>
                </a:solidFill>
                <a:latin typeface="Inter"/>
              </a:defRPr>
            </a:pPr>
            <a:r>
              <a:t>CAPACITY PACKING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0/1 KNAPSACK PROBLEM  —  Discrete orders cannot be split. 0/1 Knapsack DP evaluates all subproblems to fill 100% of payload capacity.</a:t>
            </a:r>
          </a:p>
        </p:txBody>
      </p:sp>
      <p:pic>
        <p:nvPicPr>
          <p:cNvPr id="6" name="Picture 5" descr="diag_greedy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1737360"/>
            <a:ext cx="3328416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25696" y="5166360"/>
            <a:ext cx="332841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41C1C"/>
                </a:solidFill>
                <a:latin typeface="Inter"/>
              </a:defRPr>
            </a:pPr>
            <a:r>
              <a:t>HEURISTIC TRAP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GREEDY APPROXIMATION  —  Greedy ratio sorting commits to small items first, leaving capacity voids and losing up to Rs. 2,650 in revenue.</a:t>
            </a:r>
          </a:p>
        </p:txBody>
      </p:sp>
      <p:pic>
        <p:nvPicPr>
          <p:cNvPr id="8" name="Picture 7" descr="diag_routing_dilem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737360"/>
            <a:ext cx="3328416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19872" y="5166360"/>
            <a:ext cx="332841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41C1C"/>
                </a:solidFill>
                <a:latin typeface="Inter"/>
              </a:defRPr>
            </a:pPr>
            <a:r>
              <a:t>SPATIAL ROUTING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DIJKSTRA VS BELLMAN-FORD  —  Dijkstra provides ultra-fast O((V+E)logV) navigation; Bellman-Ford audits negative congestion cycles.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292608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03 •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241C1C"/>
                </a:solidFill>
                <a:latin typeface="The Seasons"/>
              </a:defRPr>
            </a:pPr>
            <a:r>
              <a:t>THEORETICAL LITERATURE FOUNDATIONS</a:t>
            </a:r>
          </a:p>
        </p:txBody>
      </p:sp>
      <p:pic>
        <p:nvPicPr>
          <p:cNvPr id="4" name="Picture 3" descr="literature_timelin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3200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5074920"/>
            <a:ext cx="512064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>
              <a:defRPr sz="1300" b="1">
                <a:solidFill>
                  <a:srgbClr val="E85923"/>
                </a:solidFill>
                <a:latin typeface="Inter"/>
              </a:defRPr>
            </a:pPr>
            <a:r>
              <a:t>Key Finding 1: Dynamic Programming Optimality</a:t>
            </a:r>
          </a:p>
          <a:p>
            <a:pPr>
              <a:defRPr sz="1100">
                <a:solidFill>
                  <a:srgbClr val="241C1C"/>
                </a:solidFill>
                <a:latin typeface="Inter"/>
              </a:defRPr>
            </a:pPr>
            <a:r>
              <a:t>Bellman (1957) proved that optimal decisions decompose into subproblems. Martello &amp; Toth (1990) established the 2D memoization recurrence for discrete 0/1 knapsacks.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5074920"/>
            <a:ext cx="512064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>
              <a:defRPr sz="1300" b="1">
                <a:solidFill>
                  <a:srgbClr val="0096B4"/>
                </a:solidFill>
                <a:latin typeface="Inter"/>
              </a:defRPr>
            </a:pPr>
            <a:r>
              <a:t>Key Finding 2: Shortest-Path Graph Duality</a:t>
            </a:r>
          </a:p>
          <a:p>
            <a:pPr>
              <a:defRPr sz="1100">
                <a:solidFill>
                  <a:srgbClr val="241C1C"/>
                </a:solidFill>
                <a:latin typeface="Inter"/>
              </a:defRPr>
            </a:pPr>
            <a:r>
              <a:t>Dijkstra (1959) established greedy min-heap expansion for non-negative road graphs. Bellman-Ford (1958) generalized shortest paths via DP edge relaxations with cycle detection.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274320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04 •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400" b="1">
                <a:solidFill>
                  <a:srgbClr val="241C1C"/>
                </a:solidFill>
                <a:latin typeface="The Seasons"/>
              </a:defRPr>
            </a:pPr>
            <a:r>
              <a:t>TWO-PHASE ALGORITHMIC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728655" cy="685800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INPUT: 35+ HYDERABAD ORDERS  ➔  PHASE 1: PACKING ENGINE (KNAPSACK / GREEDY)  ➔  PHASE 2: SPATIAL ROUTING (DIJKSTRA / BELLMAN-FORD)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3328416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PHASE 1: DEMAND &amp; GRAPH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HYDERABAD ADJACENCY MATRIX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Central Hub: Main Parcel Warehouse (Begumpet)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35+ Delivery Request Nodes across Hyderabad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Vehicle Payload Constraints: Van (100 kg), EV Bike (30 kg)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Graph Matrix: Edge weights = road distance + traffic delay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2651760"/>
            <a:ext cx="3328416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PHASE 2A: CARGO SELECTION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0/1 KNAPSACK VS GREEDY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Run 0/1 Knapsack DP: Fills 100% capacity (Rs. 16,450)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Run Profit Density Greedy (p/w): Fast sorting (Rs. 15,200)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Run Earliest Deadline First (EDF) for urgent SLAs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Evaluate revenue capture and packing efficiency gaps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2651760"/>
            <a:ext cx="3328416" cy="36576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PHASE 2B: ROUTING SYNTHESIS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DIJKSTRA &amp; BELLMAN-FORD</a:t>
            </a:r>
          </a:p>
          <a:p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Dijkstra SSSP via Binary Min-Heap Priority Queue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Bellman-Ford audits negative traffic congestion cycles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Construct optimal turn-by-turn waypoint sequences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• Live dispatch telemetry streamed to Google Maps 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274320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04 •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241C1C"/>
                </a:solidFill>
                <a:latin typeface="The Seasons"/>
              </a:defRPr>
            </a:pPr>
            <a:r>
              <a:t>DEEP DIVE: KNAPSACK DP VS GREEDY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28416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01. 0/1 KNAPSACK (DP)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BELLMAN RECURRENCE • O(n · W)</a:t>
            </a:r>
          </a:p>
          <a:p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Mathematical Formulation: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DP[</a:t>
            </a:r>
            <a:r>
              <a:rPr sz="1600" dirty="0" err="1">
                <a:solidFill>
                  <a:schemeClr val="tx1"/>
                </a:solidFill>
              </a:rPr>
              <a:t>i</a:t>
            </a:r>
            <a:r>
              <a:rPr sz="1600" dirty="0">
                <a:solidFill>
                  <a:schemeClr val="tx1"/>
                </a:solidFill>
              </a:rPr>
              <a:t>][w] = DP[i-1][w]   if </a:t>
            </a:r>
            <a:r>
              <a:rPr sz="1600" dirty="0" err="1">
                <a:solidFill>
                  <a:schemeClr val="tx1"/>
                </a:solidFill>
              </a:rPr>
              <a:t>w_i</a:t>
            </a:r>
            <a:r>
              <a:rPr sz="1600" dirty="0">
                <a:solidFill>
                  <a:schemeClr val="tx1"/>
                </a:solidFill>
              </a:rPr>
              <a:t> &gt; w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DP[</a:t>
            </a:r>
            <a:r>
              <a:rPr sz="1600" dirty="0" err="1">
                <a:solidFill>
                  <a:schemeClr val="tx1"/>
                </a:solidFill>
              </a:rPr>
              <a:t>i</a:t>
            </a:r>
            <a:r>
              <a:rPr sz="1600" dirty="0">
                <a:solidFill>
                  <a:schemeClr val="tx1"/>
                </a:solidFill>
              </a:rPr>
              <a:t>][w] = max(DP[i-1][w], DP[i-1][w - </a:t>
            </a:r>
            <a:r>
              <a:rPr sz="1600" dirty="0" err="1">
                <a:solidFill>
                  <a:schemeClr val="tx1"/>
                </a:solidFill>
              </a:rPr>
              <a:t>w_i</a:t>
            </a:r>
            <a:r>
              <a:rPr sz="1600" dirty="0">
                <a:solidFill>
                  <a:schemeClr val="tx1"/>
                </a:solidFill>
              </a:rPr>
              <a:t>] + </a:t>
            </a:r>
            <a:r>
              <a:rPr sz="1600" dirty="0" err="1">
                <a:solidFill>
                  <a:schemeClr val="tx1"/>
                </a:solidFill>
              </a:rPr>
              <a:t>p_i</a:t>
            </a:r>
            <a:r>
              <a:rPr sz="1600" dirty="0">
                <a:solidFill>
                  <a:schemeClr val="tx1"/>
                </a:solidFill>
              </a:rPr>
              <a:t>)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Table Dimensions: (N + 1) × (W + 1)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Cell decision: SKIP (item </a:t>
            </a:r>
            <a:r>
              <a:rPr sz="1600" dirty="0" err="1">
                <a:solidFill>
                  <a:schemeClr val="tx1"/>
                </a:solidFill>
              </a:rPr>
              <a:t>i</a:t>
            </a:r>
            <a:r>
              <a:rPr sz="1600" dirty="0">
                <a:solidFill>
                  <a:schemeClr val="tx1"/>
                </a:solidFill>
              </a:rPr>
              <a:t> excluded) vs TAKE (item </a:t>
            </a:r>
            <a:r>
              <a:rPr sz="1600" dirty="0" err="1">
                <a:solidFill>
                  <a:schemeClr val="tx1"/>
                </a:solidFill>
              </a:rPr>
              <a:t>i</a:t>
            </a:r>
            <a:r>
              <a:rPr sz="1600" dirty="0">
                <a:solidFill>
                  <a:schemeClr val="tx1"/>
                </a:solidFill>
              </a:rPr>
              <a:t> included).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Golden Backtracking: Traces optimal parcel combination.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Invariant: Guarantees 100% global revenue capture.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737360"/>
            <a:ext cx="3328416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02. PROFIT DENSITY GREEDY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DANTZIG RATIO SORT • O(n log n)</a:t>
            </a:r>
          </a:p>
          <a:p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Heuristic Formulation: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Calculate ratio </a:t>
            </a:r>
            <a:r>
              <a:rPr sz="1600" dirty="0" err="1">
                <a:solidFill>
                  <a:schemeClr val="tx1"/>
                </a:solidFill>
              </a:rPr>
              <a:t>r_i</a:t>
            </a:r>
            <a:r>
              <a:rPr sz="1600" dirty="0">
                <a:solidFill>
                  <a:schemeClr val="tx1"/>
                </a:solidFill>
              </a:rPr>
              <a:t> = </a:t>
            </a:r>
            <a:r>
              <a:rPr sz="1600" dirty="0" err="1">
                <a:solidFill>
                  <a:schemeClr val="tx1"/>
                </a:solidFill>
              </a:rPr>
              <a:t>p_i</a:t>
            </a:r>
            <a:r>
              <a:rPr sz="1600" dirty="0">
                <a:solidFill>
                  <a:schemeClr val="tx1"/>
                </a:solidFill>
              </a:rPr>
              <a:t> / </a:t>
            </a:r>
            <a:r>
              <a:rPr sz="1600" dirty="0" err="1">
                <a:solidFill>
                  <a:schemeClr val="tx1"/>
                </a:solidFill>
              </a:rPr>
              <a:t>w_i</a:t>
            </a:r>
            <a:r>
              <a:rPr sz="1600" dirty="0">
                <a:solidFill>
                  <a:schemeClr val="tx1"/>
                </a:solidFill>
              </a:rPr>
              <a:t> for each order.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Sort in descending order and greedily insert while weight &lt;= W.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Algorithmic Flaw: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Greedy choice property guarantees optimality only when items are divisible. For discrete parcels, fractional voids waste valuable payload space.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737360"/>
            <a:ext cx="3328416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03. ALTERNATIVE HEURISTICS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SLA &amp; BASELINE POLICIES</a:t>
            </a:r>
          </a:p>
          <a:p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Comparative Heuristic Strategies: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1. Profit Density: max (</a:t>
            </a:r>
            <a:r>
              <a:rPr sz="1600" dirty="0" err="1">
                <a:solidFill>
                  <a:schemeClr val="tx1"/>
                </a:solidFill>
              </a:rPr>
              <a:t>p_i</a:t>
            </a:r>
            <a:r>
              <a:rPr sz="1600" dirty="0">
                <a:solidFill>
                  <a:schemeClr val="tx1"/>
                </a:solidFill>
              </a:rPr>
              <a:t> / </a:t>
            </a:r>
            <a:r>
              <a:rPr sz="1600" dirty="0" err="1">
                <a:solidFill>
                  <a:schemeClr val="tx1"/>
                </a:solidFill>
              </a:rPr>
              <a:t>w_i</a:t>
            </a:r>
            <a:r>
              <a:rPr sz="1600" dirty="0">
                <a:solidFill>
                  <a:schemeClr val="tx1"/>
                </a:solidFill>
              </a:rPr>
              <a:t>) — 92.4% Optimal.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2. Highest Profit: max </a:t>
            </a:r>
            <a:r>
              <a:rPr sz="1600" dirty="0" err="1">
                <a:solidFill>
                  <a:schemeClr val="tx1"/>
                </a:solidFill>
              </a:rPr>
              <a:t>p_i</a:t>
            </a:r>
            <a:r>
              <a:rPr sz="1600" dirty="0">
                <a:solidFill>
                  <a:schemeClr val="tx1"/>
                </a:solidFill>
              </a:rPr>
              <a:t> — 83.9% Optimal.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   Biased toward heavy orders, under-utilizing vehicle volume.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3. Earliest Deadline First (EDF): min </a:t>
            </a:r>
            <a:r>
              <a:rPr sz="1600" dirty="0" err="1">
                <a:solidFill>
                  <a:schemeClr val="tx1"/>
                </a:solidFill>
              </a:rPr>
              <a:t>d_i</a:t>
            </a:r>
            <a:r>
              <a:rPr sz="1600" dirty="0">
                <a:solidFill>
                  <a:schemeClr val="tx1"/>
                </a:solidFill>
              </a:rPr>
              <a:t> — 85.7% Optimal.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   Prioritizes urgent customer SLAs.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274320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04 •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241C1C"/>
                </a:solidFill>
                <a:latin typeface="The Seasons"/>
              </a:defRPr>
            </a:pPr>
            <a:r>
              <a:t>DEEP DIVE: DIJKSTRA VS BELLMAN-FORD ROUTING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19" y="1392865"/>
            <a:ext cx="3340609" cy="4920748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DIJKSTRA'S SSSP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MIN-HEAP GREEDY • O((V+E)</a:t>
            </a:r>
            <a:r>
              <a:rPr dirty="0" err="1"/>
              <a:t>logV</a:t>
            </a:r>
            <a:r>
              <a:rPr dirty="0"/>
              <a:t>)</a:t>
            </a:r>
          </a:p>
          <a:p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Algorithmic Mechanics: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Initialize </a:t>
            </a:r>
            <a:r>
              <a:rPr sz="1600" dirty="0" err="1">
                <a:solidFill>
                  <a:schemeClr val="tx1"/>
                </a:solidFill>
              </a:rPr>
              <a:t>dist</a:t>
            </a:r>
            <a:r>
              <a:rPr sz="1600" dirty="0">
                <a:solidFill>
                  <a:schemeClr val="tx1"/>
                </a:solidFill>
              </a:rPr>
              <a:t>[start] = 0, </a:t>
            </a:r>
            <a:r>
              <a:rPr sz="1600" dirty="0" err="1">
                <a:solidFill>
                  <a:schemeClr val="tx1"/>
                </a:solidFill>
              </a:rPr>
              <a:t>dist</a:t>
            </a:r>
            <a:r>
              <a:rPr sz="1600" dirty="0">
                <a:solidFill>
                  <a:schemeClr val="tx1"/>
                </a:solidFill>
              </a:rPr>
              <a:t>[v] = ∞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Push (0, start) to custom Min-Heap Priority Queue.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Invariant: Extract vertex u with minimum tentative distance. It is permanently finalized.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Edge Relaxation: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  </a:t>
            </a:r>
            <a:r>
              <a:rPr sz="1600" dirty="0" err="1">
                <a:solidFill>
                  <a:schemeClr val="tx1"/>
                </a:solidFill>
              </a:rPr>
              <a:t>dist</a:t>
            </a:r>
            <a:r>
              <a:rPr sz="1600" dirty="0">
                <a:solidFill>
                  <a:schemeClr val="tx1"/>
                </a:solidFill>
              </a:rPr>
              <a:t>[v] = min(</a:t>
            </a:r>
            <a:r>
              <a:rPr sz="1600" dirty="0" err="1">
                <a:solidFill>
                  <a:schemeClr val="tx1"/>
                </a:solidFill>
              </a:rPr>
              <a:t>dist</a:t>
            </a:r>
            <a:r>
              <a:rPr sz="1600" dirty="0">
                <a:solidFill>
                  <a:schemeClr val="tx1"/>
                </a:solidFill>
              </a:rPr>
              <a:t>[v], </a:t>
            </a:r>
            <a:r>
              <a:rPr sz="1600" dirty="0" err="1">
                <a:solidFill>
                  <a:schemeClr val="tx1"/>
                </a:solidFill>
              </a:rPr>
              <a:t>dist</a:t>
            </a:r>
            <a:r>
              <a:rPr sz="1600" dirty="0">
                <a:solidFill>
                  <a:schemeClr val="tx1"/>
                </a:solidFill>
              </a:rPr>
              <a:t>[u] + w(</a:t>
            </a:r>
            <a:r>
              <a:rPr sz="1600" dirty="0" err="1">
                <a:solidFill>
                  <a:schemeClr val="tx1"/>
                </a:solidFill>
              </a:rPr>
              <a:t>u,v</a:t>
            </a:r>
            <a:r>
              <a:rPr sz="1600" dirty="0">
                <a:solidFill>
                  <a:schemeClr val="tx1"/>
                </a:solidFill>
              </a:rPr>
              <a:t>))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Limitation: Requires w(</a:t>
            </a:r>
            <a:r>
              <a:rPr sz="1600" dirty="0" err="1">
                <a:solidFill>
                  <a:schemeClr val="tx1"/>
                </a:solidFill>
              </a:rPr>
              <a:t>u,v</a:t>
            </a:r>
            <a:r>
              <a:rPr sz="1600" dirty="0">
                <a:solidFill>
                  <a:schemeClr val="tx1"/>
                </a:solidFill>
              </a:rPr>
              <a:t>) &gt;= 0. Cannot handle negative toll credits.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92865"/>
            <a:ext cx="3310128" cy="4916495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BELLMAN-FORD ALGORITHM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DP EDGE RELAXATION • O(V · E)</a:t>
            </a:r>
          </a:p>
          <a:p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Algorithmic Mechanics: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Relaxes all |E| directed edges for |V| - 1 iterations: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  d^(k)[v] = min(d^(k-1)[v], d^(k-1)[u] + w(</a:t>
            </a:r>
            <a:r>
              <a:rPr sz="1600" dirty="0" err="1">
                <a:solidFill>
                  <a:schemeClr val="tx1"/>
                </a:solidFill>
              </a:rPr>
              <a:t>u,v</a:t>
            </a:r>
            <a:r>
              <a:rPr sz="1600" dirty="0">
                <a:solidFill>
                  <a:schemeClr val="tx1"/>
                </a:solidFill>
              </a:rPr>
              <a:t>))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Cycle Detection Invariant:</a:t>
            </a: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  If edge (</a:t>
            </a:r>
            <a:r>
              <a:rPr sz="1600" dirty="0" err="1">
                <a:solidFill>
                  <a:schemeClr val="tx1"/>
                </a:solidFill>
              </a:rPr>
              <a:t>u,v</a:t>
            </a:r>
            <a:r>
              <a:rPr sz="1600" dirty="0">
                <a:solidFill>
                  <a:schemeClr val="tx1"/>
                </a:solidFill>
              </a:rPr>
              <a:t>) relaxes on iteration |V|, a negative-weight cycle exists.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Benefit: Handles dynamic congestion penalties &amp; toll subsidies without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392865"/>
            <a:ext cx="3310128" cy="4916495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28600" rIns="182880" rtlCol="0" anchor="ctr"/>
          <a:lstStyle/>
          <a:p>
            <a:pPr algn="ctr">
              <a:defRPr sz="1500" b="1">
                <a:solidFill>
                  <a:srgbClr val="241C1C"/>
                </a:solidFill>
                <a:latin typeface="Inter"/>
              </a:defRPr>
            </a:pPr>
            <a:r>
              <a:rPr dirty="0"/>
              <a:t>PRACTICAL LOGISTICS ROLE</a:t>
            </a:r>
          </a:p>
          <a:p>
            <a:pPr>
              <a:defRPr sz="1100" b="1">
                <a:solidFill>
                  <a:srgbClr val="E85923"/>
                </a:solidFill>
                <a:latin typeface="Inter"/>
              </a:defRPr>
            </a:pPr>
            <a:r>
              <a:rPr dirty="0"/>
              <a:t>HYBRID DUAL GRAPH ENGINE</a:t>
            </a:r>
          </a:p>
          <a:p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Operational Synergies in </a:t>
            </a:r>
            <a:r>
              <a:rPr sz="1600" dirty="0" err="1">
                <a:solidFill>
                  <a:schemeClr val="tx1"/>
                </a:solidFill>
              </a:rPr>
              <a:t>SmartRoute</a:t>
            </a:r>
            <a:r>
              <a:rPr sz="1600" dirty="0">
                <a:solidFill>
                  <a:schemeClr val="tx1"/>
                </a:solidFill>
              </a:rPr>
              <a:t>: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Primary Navigation: Dijkstra executes in 4.2 </a:t>
            </a:r>
            <a:r>
              <a:rPr sz="1600" dirty="0" err="1">
                <a:solidFill>
                  <a:schemeClr val="tx1"/>
                </a:solidFill>
              </a:rPr>
              <a:t>ms</a:t>
            </a:r>
            <a:r>
              <a:rPr sz="1600" dirty="0">
                <a:solidFill>
                  <a:schemeClr val="tx1"/>
                </a:solidFill>
              </a:rPr>
              <a:t> across Hyderabad corridors for instant turn-by-turn directions.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Congestion Audit: Bellman-Ford runs in background (18.7 </a:t>
            </a:r>
            <a:r>
              <a:rPr sz="1600" dirty="0" err="1">
                <a:solidFill>
                  <a:schemeClr val="tx1"/>
                </a:solidFill>
              </a:rPr>
              <a:t>ms</a:t>
            </a:r>
            <a:r>
              <a:rPr sz="1600" dirty="0">
                <a:solidFill>
                  <a:schemeClr val="tx1"/>
                </a:solidFill>
              </a:rPr>
              <a:t>) to detect traffic deadlock loops and model dynamic subsidies.</a:t>
            </a:r>
            <a:br>
              <a:rPr sz="1600" dirty="0">
                <a:solidFill>
                  <a:schemeClr val="tx1"/>
                </a:solidFill>
              </a:rPr>
            </a:br>
            <a:br>
              <a:rPr sz="1600" dirty="0">
                <a:solidFill>
                  <a:schemeClr val="tx1"/>
                </a:solidFill>
              </a:rPr>
            </a:br>
            <a:r>
              <a:rPr sz="1600" dirty="0">
                <a:solidFill>
                  <a:schemeClr val="tx1"/>
                </a:solidFill>
              </a:rPr>
              <a:t>• Faculty Viva Defense: Demonstrates mastery of both Greedy &amp; DP shortest paths.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ystem_architectur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94360"/>
            <a:ext cx="4114800" cy="56235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212080" y="594360"/>
            <a:ext cx="256032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05 •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0" y="1051560"/>
            <a:ext cx="62179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241C1C"/>
                </a:solidFill>
                <a:latin typeface="The Seasons"/>
              </a:defRPr>
            </a:pPr>
            <a:r>
              <a:t>SMARTROUTE DUAL-ENGINE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01168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85923"/>
                </a:solidFill>
                <a:latin typeface="Inter"/>
              </a:defRPr>
            </a:pPr>
            <a:r>
              <a:t>INTEGRATING DAA THEORY WITH ENTERPRISE SOFTWARE:</a:t>
            </a:r>
          </a:p>
          <a:p>
            <a:br/>
            <a:r>
              <a:t>1. Cargo Packing Engine (Knapsack DP):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Solves 0/1 Knapsack to select optimal parcel subsets under vehicle limits. Evaluates heuristic comparators (Profit Density, EDF) in parallel.</a:t>
            </a:r>
          </a:p>
          <a:p>
            <a:br/>
            <a:r>
              <a:t>2. Spatial Routing Engine (Dijkstra Min-Heap):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Maintains the Hyderabad road network. Computes shortest turn-by-turn waypoint sequences from Begumpet Hub in 4.2 ms.</a:t>
            </a:r>
          </a:p>
          <a:p>
            <a:br/>
            <a:r>
              <a:t>3. Congestion &amp; Penalty Auditor (Bellman-Ford):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Validates route stability against dynamic toll surcharges, congestion credits, and negative loops.</a:t>
            </a:r>
          </a:p>
          <a:p>
            <a:br/>
            <a:r>
              <a:t>4. Operations Dashboard &amp; Viva Labs: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t>Interactive Google Maps visualization with live Min-Heap step tracer and 2D DP memoization arithmetic inspector.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02920"/>
            <a:ext cx="347472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05 • SOLUTION &amp;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241C1C"/>
                </a:solidFill>
                <a:latin typeface="The Seasons"/>
              </a:defRPr>
            </a:pPr>
            <a:r>
              <a:t>PROTOTYPE SHOWCASE: OPERATIONS &amp; DIJKSTRA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operation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84632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1663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Google Maps Fleet Operations Dashboard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Visualizes Begumpet Central Hub, 35+ delivery nodes across Hyderabad, active corridor routes, and fleet capacity status.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ab2_dijkst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4846320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1663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Dijkstra Min-Heap Step Tracer &amp; Hyderabad Graph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Manual Binary Min-Heap step-by-step priority queue playback, edge relaxation logging, and pedagogical viva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02920"/>
            <a:ext cx="347472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05 • SOLUTION &amp;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241C1C"/>
                </a:solidFill>
                <a:latin typeface="The Seasons"/>
              </a:defRPr>
            </a:pPr>
            <a:r>
              <a:t>PROTOTYPE SHOWCASE: 0/1 KNAPSACK &amp; BENCHMARKS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ab4_knaps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84632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1663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0/1 Knapsack 2D DP Table &amp; Backtracking Inspector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Complete (N+1) x (W+1) memoization table with cell-level SKIP vs TAKE arithmetic inspector and golden backtracking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ab6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4846320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16636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41C1C"/>
                </a:solidFill>
                <a:latin typeface="Inter"/>
              </a:defRPr>
            </a:pPr>
            <a:r>
              <a:t>Multi-Algorithm Benchmark Matrix &amp; Viva Guide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Live empirical metrics comparing DP vs Greedy heuristics, revenue capture, and faculty viva voce cheat sheet with proof sketches.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02920"/>
            <a:ext cx="347472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06 • FINAL OUTCOME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241C1C"/>
                </a:solidFill>
                <a:latin typeface="The Seasons"/>
              </a:defRPr>
            </a:pPr>
            <a:r>
              <a:t>EMPIRICAL BENCHMARK MATRIX ACROSS THE 4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828800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PARADIGM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TIME COMPLEXITY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SPACE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PROFIT / METRIC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PRACTICAL ROLE</a:t>
                      </a:r>
                    </a:p>
                  </a:txBody>
                  <a:tcPr>
                    <a:solidFill>
                      <a:srgbClr val="24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0/1 Knapsack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Dynamic Prog.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O(n · W) Pseudo-poly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O(n · 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5923"/>
                          </a:solidFill>
                          <a:latin typeface="Inter"/>
                        </a:defRPr>
                      </a:pPr>
                      <a:r>
                        <a:t>Rs. 16,450 (100% 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8.2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Global Cargo Maximization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Profit Density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Greedy Heuristic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O(n log n)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5923"/>
                          </a:solidFill>
                          <a:latin typeface="Inter"/>
                        </a:defRPr>
                      </a:pPr>
                      <a:r>
                        <a:t>Rs. 15,200 (92.4% Opt)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0.4 ms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Rapid Cargo Dispatching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Highest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Greedy Heuristic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O(n log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5923"/>
                          </a:solidFill>
                          <a:latin typeface="Inter"/>
                        </a:defRPr>
                      </a:pPr>
                      <a:r>
                        <a:t>Rs. 13,800 (83.9% 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0.3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Baseline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Dijkstra's SSSP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Greedy (Min-Heap)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O((V + E) log V)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O(V)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5923"/>
                          </a:solidFill>
                          <a:latin typeface="Inter"/>
                        </a:defRPr>
                      </a:pPr>
                      <a:r>
                        <a:t>142.6 km Optimal Path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4.2 ms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Real-Time Fleet Navigation</a:t>
                      </a:r>
                    </a:p>
                  </a:txBody>
                  <a:tcPr>
                    <a:solidFill>
                      <a:srgbClr val="F8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Bellman-Ford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Dynamic Prog.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O(V · 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O(V)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85923"/>
                          </a:solidFill>
                          <a:latin typeface="Inter"/>
                        </a:defRPr>
                      </a:pPr>
                      <a:r>
                        <a:t>142.6 km + Cycle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18.7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41C1C"/>
                          </a:solidFill>
                          <a:latin typeface="Inter"/>
                        </a:defRPr>
                      </a:pPr>
                      <a:r>
                        <a:t>Congestion Penalty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48640"/>
            <a:ext cx="347472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SECTION 06 • FINAL OUTCOME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241C1C"/>
                </a:solidFill>
                <a:latin typeface="The Seasons"/>
              </a:defRPr>
            </a:pPr>
            <a:r>
              <a:t>KEY QUANTITATIVE OUTCOMES &amp; FLEET IMPACT</a:t>
            </a:r>
          </a:p>
        </p:txBody>
      </p:sp>
      <p:pic>
        <p:nvPicPr>
          <p:cNvPr id="4" name="Picture 3" descr="diag_metric_pro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3328416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166360"/>
            <a:ext cx="332841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41C1C"/>
                </a:solidFill>
                <a:latin typeface="Inter"/>
              </a:defRPr>
            </a:pPr>
            <a:r>
              <a:t>+99.4% PROFIT CAPTURE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0/1 KNAPSACK DOMINANCE  —  0/1 Knapsack captured Rs. 16,450, outperforming greedy heuristics by up to Rs. 2,650 (+16.1%) per trip.</a:t>
            </a:r>
          </a:p>
        </p:txBody>
      </p:sp>
      <p:pic>
        <p:nvPicPr>
          <p:cNvPr id="6" name="Picture 5" descr="diag_metric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1737360"/>
            <a:ext cx="3328416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25696" y="5166360"/>
            <a:ext cx="332841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41C1C"/>
                </a:solidFill>
                <a:latin typeface="Inter"/>
              </a:defRPr>
            </a:pPr>
            <a:r>
              <a:t>-32.8% TRANSIT DISTANCE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DIJKSTRA MIN-HEAP SSSP  —  Dijkstra's shortest path cut fleet mileage from 212.4 km down to 142.6 km (-24.5% fuel expenditure).</a:t>
            </a:r>
          </a:p>
        </p:txBody>
      </p:sp>
      <p:pic>
        <p:nvPicPr>
          <p:cNvPr id="8" name="Picture 7" descr="diag_metric_lat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2" y="1737360"/>
            <a:ext cx="3328416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19872" y="5166360"/>
            <a:ext cx="332841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41C1C"/>
                </a:solidFill>
                <a:latin typeface="Inter"/>
              </a:defRPr>
            </a:pPr>
            <a:r>
              <a:t>SUB-10MS LATENCY</a:t>
            </a:r>
          </a:p>
          <a:p>
            <a:pPr>
              <a:defRPr sz="1100">
                <a:solidFill>
                  <a:srgbClr val="645A55"/>
                </a:solidFill>
                <a:latin typeface="Inter"/>
              </a:defRPr>
            </a:pPr>
            <a:r>
              <a:t>REAL-TIME COMPUTATION  —  Full dual-engine pipeline runs in 8.2 ms, easily supporting over 1,000 active driver dispatch requests.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379027" y="258901"/>
            <a:ext cx="4114800" cy="2520980"/>
          </a:xfrm>
          <a:prstGeom prst="roundRect">
            <a:avLst/>
          </a:prstGeom>
          <a:solidFill>
            <a:srgbClr val="FFFFFF"/>
          </a:solidFill>
          <a:ln>
            <a:solidFill>
              <a:srgbClr val="D7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81947" y="826683"/>
            <a:ext cx="310896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rPr dirty="0"/>
              <a:t>PROJECT ATTRIBUTION &amp; 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94868" y="1437522"/>
            <a:ext cx="6217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241C1C"/>
                </a:solidFill>
                <a:latin typeface="The Seasons"/>
              </a:defRPr>
            </a:pPr>
            <a:r>
              <a:rPr dirty="0"/>
              <a:t>PROJECT CREDITS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688" y="3429000"/>
            <a:ext cx="962033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85923"/>
                </a:solidFill>
                <a:latin typeface="Inter"/>
              </a:defRPr>
            </a:pPr>
            <a:r>
              <a:rPr sz="2000" dirty="0"/>
              <a:t>COURSE INSTRUCTOR &amp; MENTOR:</a:t>
            </a:r>
          </a:p>
          <a:p>
            <a:pPr>
              <a:defRPr sz="2600" b="1">
                <a:solidFill>
                  <a:srgbClr val="241C1C"/>
                </a:solidFill>
                <a:latin typeface="The Seasons"/>
              </a:defRPr>
            </a:pPr>
            <a:r>
              <a:rPr sz="2000" dirty="0"/>
              <a:t>Dr. Syed Javed Pasha</a:t>
            </a:r>
          </a:p>
          <a:p>
            <a:pPr>
              <a:defRPr sz="1200">
                <a:solidFill>
                  <a:srgbClr val="645A55"/>
                </a:solidFill>
                <a:latin typeface="Inter"/>
              </a:defRPr>
            </a:pPr>
            <a:r>
              <a:rPr sz="2000" dirty="0"/>
              <a:t>Course Coordinator &amp; Project Mentor • Department of Computer Science &amp; Engineering</a:t>
            </a:r>
            <a:br>
              <a:rPr sz="2000" dirty="0"/>
            </a:br>
            <a:r>
              <a:rPr sz="2000" dirty="0" err="1"/>
              <a:t>Woxsen</a:t>
            </a:r>
            <a:r>
              <a:rPr sz="2000" dirty="0"/>
              <a:t> University, School of Technology</a:t>
            </a:r>
            <a:br>
              <a:rPr sz="2000" dirty="0"/>
            </a:br>
            <a:endParaRPr sz="2000" dirty="0"/>
          </a:p>
          <a:p>
            <a:pPr>
              <a:defRPr sz="1300" b="1">
                <a:solidFill>
                  <a:srgbClr val="E85923"/>
                </a:solidFill>
                <a:latin typeface="Inter"/>
              </a:defRPr>
            </a:pPr>
            <a:r>
              <a:rPr sz="2000" dirty="0"/>
              <a:t>STUDENT PROJECT TEAM:</a:t>
            </a:r>
          </a:p>
          <a:p>
            <a:pPr>
              <a:defRPr sz="1250">
                <a:solidFill>
                  <a:srgbClr val="241C1C"/>
                </a:solidFill>
                <a:latin typeface="Inter"/>
              </a:defRPr>
            </a:pPr>
            <a:r>
              <a:rPr sz="2000" dirty="0"/>
              <a:t>• Himanshu Pandit  —  Lead System Architect &amp; Algorithm Engineer</a:t>
            </a:r>
          </a:p>
          <a:p>
            <a:pPr>
              <a:defRPr sz="1250">
                <a:solidFill>
                  <a:srgbClr val="241C1C"/>
                </a:solidFill>
                <a:latin typeface="Inter"/>
              </a:defRPr>
            </a:pPr>
            <a:r>
              <a:rPr sz="2000" dirty="0"/>
              <a:t>• Devyani Pawar  —  Graph &amp; Network Modeling Specialist</a:t>
            </a:r>
          </a:p>
          <a:p>
            <a:pPr>
              <a:defRPr sz="1250">
                <a:solidFill>
                  <a:srgbClr val="241C1C"/>
                </a:solidFill>
                <a:latin typeface="Inter"/>
              </a:defRPr>
            </a:pPr>
            <a:r>
              <a:rPr sz="2000" dirty="0"/>
              <a:t>• Heman  —  Dynamic Programming &amp; Benchmark Developer</a:t>
            </a:r>
          </a:p>
          <a:p>
            <a:pPr>
              <a:defRPr sz="1250">
                <a:solidFill>
                  <a:srgbClr val="241C1C"/>
                </a:solidFill>
                <a:latin typeface="Inter"/>
              </a:defRPr>
            </a:pPr>
            <a:r>
              <a:rPr sz="2000" dirty="0"/>
              <a:t>• Rimika Jain  —  Heuristic Optimization &amp; UI Integration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4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241C1C"/>
                </a:solidFill>
                <a:latin typeface="The Seasons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85923"/>
                </a:solidFill>
                <a:latin typeface="Inter"/>
              </a:defRPr>
            </a:pPr>
            <a:r>
              <a:t>SMARTROUTE: ALGORITHMIC OPTIMIZATION FOR LAST-MILE LOGISTICS</a:t>
            </a:r>
          </a:p>
        </p:txBody>
      </p:sp>
      <p:pic>
        <p:nvPicPr>
          <p:cNvPr id="4" name="Picture 3" descr="hero_cover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10728655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5852160"/>
            <a:ext cx="5669280" cy="384048"/>
          </a:xfrm>
          <a:prstGeom prst="roundRect">
            <a:avLst/>
          </a:prstGeom>
          <a:solidFill>
            <a:srgbClr val="24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36576" rIns="128016" bIns="36576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OPEN FOR FACULTY VIVA VOCE QUESTIONS &amp; ALGORITHM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5852160"/>
            <a:ext cx="4846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241C1C"/>
                </a:solidFill>
                <a:latin typeface="Inter"/>
              </a:defRPr>
            </a:pPr>
            <a:r>
              <a:t>GITHUB: https://github.com/Himanshu-Git-101/DAA_PBL   |   WOXSEN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2166</Words>
  <Application>Microsoft Macintosh PowerPoint</Application>
  <PresentationFormat>Widescreen</PresentationFormat>
  <Paragraphs>199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Himanshu Pandit (B.Tech_2029)</cp:lastModifiedBy>
  <cp:revision>2</cp:revision>
  <dcterms:created xsi:type="dcterms:W3CDTF">2013-01-27T09:14:16Z</dcterms:created>
  <dcterms:modified xsi:type="dcterms:W3CDTF">2026-10-13T07:37:55Z</dcterms:modified>
  <cp:category/>
</cp:coreProperties>
</file>