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15544800" cy="4572000"/>
          </a:xfrm>
          <a:prstGeom prst="ellipse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286000"/>
            <a:ext cx="10058400" cy="548640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8-Point Star 4"/>
          <p:cNvSpPr/>
          <p:nvPr/>
        </p:nvSpPr>
        <p:spPr>
          <a:xfrm>
            <a:off x="1097280" y="731520"/>
            <a:ext cx="1280160" cy="12801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12-Point Star 5"/>
          <p:cNvSpPr/>
          <p:nvPr/>
        </p:nvSpPr>
        <p:spPr>
          <a:xfrm>
            <a:off x="9875520" y="731520"/>
            <a:ext cx="1097280" cy="1097280"/>
          </a:xfrm>
          <a:prstGeom prst="star12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B3B3C"/>
                </a:solidFill>
                <a:latin typeface="Tenor Sans"/>
              </a:defRPr>
            </a:pPr>
            <a:r>
              <a:t>SMARTROUTE</a:t>
            </a: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Tenor Sans"/>
              </a:defRPr>
            </a:pPr>
            <a:r>
              <a:t>Last-Mile Delivery Operations &amp; Algorithmic Optimization Engine</a:t>
            </a:r>
          </a:p>
          <a:p>
            <a:pPr>
              <a:spcBef>
                <a:spcPts val="800"/>
              </a:spcBef>
              <a:defRPr sz="1300">
                <a:solidFill>
                  <a:srgbClr val="F4EFEA"/>
                </a:solidFill>
                <a:latin typeface="Arial"/>
              </a:defRPr>
            </a:pPr>
            <a:r>
              <a:t>Design and Analysis of Algorithms (DAA - PBL) | University Final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54880"/>
            <a:ext cx="47548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5923"/>
                </a:solidFill>
                <a:latin typeface="Arial"/>
              </a:defRPr>
            </a:pPr>
            <a:r>
              <a:t>FACULTY GUIDE &amp; COURSE INSTRUCTOR</a:t>
            </a:r>
          </a:p>
          <a:p>
            <a:pPr>
              <a:defRPr sz="1800" b="1">
                <a:solidFill>
                  <a:srgbClr val="0B3B3C"/>
                </a:solidFill>
                <a:latin typeface="Tenor Sans"/>
              </a:defRPr>
            </a:pPr>
            <a:r>
              <a:t>Dr. Syed Javed Pasha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4846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4CC16"/>
                </a:solidFill>
                <a:latin typeface="Arial"/>
              </a:defRPr>
            </a:pPr>
            <a:r>
              <a:t>PROJECT DEVELOPMENT TEAM</a:t>
            </a:r>
          </a:p>
          <a:p>
            <a:pPr>
              <a:defRPr sz="1400" b="1">
                <a:solidFill>
                  <a:srgbClr val="0B3B3C"/>
                </a:solidFill>
                <a:latin typeface="Tenor Sans"/>
              </a:defRPr>
            </a:pPr>
            <a:r>
              <a:t>Himanshu Pandit  •  Devyani Pawar</a:t>
            </a:r>
            <a:br/>
            <a:r>
              <a:t>Heman  •  Rimika Jain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Greater Hyderabad &amp; Woxsen University NH65 Corridor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EXECUTIVE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Table of Contents</a:t>
            </a:r>
          </a:p>
        </p:txBody>
      </p:sp>
      <p:sp>
        <p:nvSpPr>
          <p:cNvPr id="5" name="12-Point Star 4"/>
          <p:cNvSpPr/>
          <p:nvPr/>
        </p:nvSpPr>
        <p:spPr>
          <a:xfrm>
            <a:off x="1097280" y="2011680"/>
            <a:ext cx="3108960" cy="3108960"/>
          </a:xfrm>
          <a:prstGeom prst="star12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enor Sans"/>
              </a:defRPr>
            </a:pPr>
            <a:r>
              <a:t>01. Foundations</a:t>
            </a:r>
          </a:p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Introduction</a:t>
            </a:r>
            <a:br/>
            <a:r>
              <a:t>• 53% Cost Bottleneck</a:t>
            </a:r>
            <a:br/>
            <a:r>
              <a:t>• Problem Statement</a:t>
            </a:r>
            <a:br/>
            <a:r>
              <a:t>• CVRPTW Constraints</a:t>
            </a:r>
          </a:p>
        </p:txBody>
      </p:sp>
      <p:sp>
        <p:nvSpPr>
          <p:cNvPr id="7" name="8-Point Star 6"/>
          <p:cNvSpPr/>
          <p:nvPr/>
        </p:nvSpPr>
        <p:spPr>
          <a:xfrm>
            <a:off x="4572000" y="1828800"/>
            <a:ext cx="3291840" cy="329184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6517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enor Sans"/>
              </a:defRPr>
            </a:pPr>
            <a:r>
              <a:t>02. Core Algorithms</a:t>
            </a:r>
          </a:p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Literature Review</a:t>
            </a:r>
            <a:br/>
            <a:r>
              <a:t>• Two-Tier Solution</a:t>
            </a:r>
            <a:br/>
            <a:r>
              <a:t>• Graph &amp; Min-Heap</a:t>
            </a:r>
            <a:br/>
            <a:r>
              <a:t>• 0/1 Knapsack DP</a:t>
            </a:r>
            <a:br/>
            <a:r>
              <a:t>• Invariant Scheduling</a:t>
            </a:r>
          </a:p>
        </p:txBody>
      </p:sp>
      <p:sp>
        <p:nvSpPr>
          <p:cNvPr id="9" name="12-Point Star 8"/>
          <p:cNvSpPr/>
          <p:nvPr/>
        </p:nvSpPr>
        <p:spPr>
          <a:xfrm>
            <a:off x="8138160" y="2011680"/>
            <a:ext cx="3108960" cy="3108960"/>
          </a:xfrm>
          <a:prstGeom prst="star12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743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enor Sans"/>
              </a:defRPr>
            </a:pPr>
            <a:r>
              <a:t>03. Demonstration</a:t>
            </a:r>
          </a:p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Prototype Screenshots</a:t>
            </a:r>
            <a:br/>
            <a:r>
              <a:t>• Algorithm Lab Trace</a:t>
            </a:r>
            <a:br/>
            <a:r>
              <a:t>• Benchmark Matrix</a:t>
            </a:r>
            <a:br/>
            <a:r>
              <a:t>• Faculty Viva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8-Point Star 2"/>
          <p:cNvSpPr/>
          <p:nvPr/>
        </p:nvSpPr>
        <p:spPr>
          <a:xfrm>
            <a:off x="-1371600" y="1371600"/>
            <a:ext cx="4114800" cy="4114800"/>
          </a:xfrm>
          <a:prstGeom prst="star8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12-Point Star 3"/>
          <p:cNvSpPr/>
          <p:nvPr/>
        </p:nvSpPr>
        <p:spPr>
          <a:xfrm>
            <a:off x="9601200" y="1371600"/>
            <a:ext cx="4114800" cy="4114800"/>
          </a:xfrm>
          <a:prstGeom prst="star12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619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B3B3C"/>
                </a:solidFill>
                <a:latin typeface="Tenor Sans"/>
              </a:defRPr>
            </a:pPr>
            <a:r>
              <a:t>01. INTRODUCTION</a:t>
            </a:r>
          </a:p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The Urban Logistics Dilemma &amp; Educational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The Urban Last-Mile Logistics Crisis</a:t>
            </a:r>
          </a:p>
        </p:txBody>
      </p:sp>
      <p:sp>
        <p:nvSpPr>
          <p:cNvPr id="5" name="Chevron 4"/>
          <p:cNvSpPr/>
          <p:nvPr/>
        </p:nvSpPr>
        <p:spPr>
          <a:xfrm rot="120000">
            <a:off x="-914400" y="5669280"/>
            <a:ext cx="14020495" cy="1371600"/>
          </a:xfrm>
          <a:prstGeom prst="chevron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8-Point Star 6"/>
          <p:cNvSpPr/>
          <p:nvPr/>
        </p:nvSpPr>
        <p:spPr>
          <a:xfrm>
            <a:off x="914400" y="182880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1. The 53% Cost Trap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Last-mile dispatching accounts for over 53% of overall supply chain expenditure. Erratic driver routing and suboptimal package selection bleed operating capital through wasted fuel and missed SLAs.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8-Point Star 9"/>
          <p:cNvSpPr/>
          <p:nvPr/>
        </p:nvSpPr>
        <p:spPr>
          <a:xfrm>
            <a:off x="4572000" y="1828800"/>
            <a:ext cx="365760" cy="36576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2. The Hyderabad Corridor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Rapid urbanization connects dense tech corridors (Hitec City, Gachibowli) with distant highway universities (Woxsen University on NH65). Fixed delivery promises require guaranteed non-Euclidean road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3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8-Point Star 12"/>
          <p:cNvSpPr/>
          <p:nvPr/>
        </p:nvSpPr>
        <p:spPr>
          <a:xfrm>
            <a:off x="8229600" y="1828800"/>
            <a:ext cx="365760" cy="36576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8288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3. The Pedagogical Goal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Bridge classical DAA coursework with realistic software engineering. Provide transparent visualizations of Min-Heaps, Bellman DP tables, and route invariants for comprehensive faculty viva defense.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The Multi-Constrained Dispatch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📦 Payload Capacity Constraint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The fleet operates under physical mass limits (e.g., 75 kg for Van V-101, 120 kg for Truck V-102). Overloading breaches transportation safety laws; underloading damages profit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⏱️ Strict SLA Arrival Deadlines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Each package has a customer delivery window (e.g. 180 to 380 mins). A single late arrival triggers financial chargebacks, customer churn, and dispatch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🗺️ Non-Euclidean Road Topology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Straight-line distance approximations fail across urban flyovers and arterial bottlenecks. Turn-by-turn shortest paths must be computed using realistic weighted road edges.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🧩 Discrete 0/1 Indivisibility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Parcels are atomic units. Drivers cannot deliver 50% of an electronic item or medical shipment. The decision space is strictly discrete: {0, 1}.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8-Point Star 2"/>
          <p:cNvSpPr/>
          <p:nvPr/>
        </p:nvSpPr>
        <p:spPr>
          <a:xfrm>
            <a:off x="914400" y="731520"/>
            <a:ext cx="2286000" cy="2286000"/>
          </a:xfrm>
          <a:prstGeom prst="star8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12-Point Star 3"/>
          <p:cNvSpPr/>
          <p:nvPr/>
        </p:nvSpPr>
        <p:spPr>
          <a:xfrm>
            <a:off x="9144000" y="3840480"/>
            <a:ext cx="2743200" cy="2743200"/>
          </a:xfrm>
          <a:prstGeom prst="star12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619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Tenor Sans"/>
              </a:defRPr>
            </a:pPr>
            <a:r>
              <a:t>02. LITERATURE REVIEW</a:t>
            </a:r>
          </a:p>
          <a:p>
            <a:pPr algn="ctr">
              <a:spcBef>
                <a:spcPts val="1000"/>
              </a:spcBef>
              <a:defRPr sz="1600">
                <a:solidFill>
                  <a:srgbClr val="F4EFEA"/>
                </a:solidFill>
                <a:latin typeface="Arial"/>
              </a:defRPr>
            </a:pPr>
            <a:r>
              <a:t>Classical Heuristics, Mathematical Bounds &amp; Identified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Algorithmic Survey &amp; 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3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8-Point Star 5"/>
          <p:cNvSpPr/>
          <p:nvPr/>
        </p:nvSpPr>
        <p:spPr>
          <a:xfrm>
            <a:off x="914400" y="1828800"/>
            <a:ext cx="365760" cy="36576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1. Clarke-Wright Savings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Pioneered greedy tour merging based on distance savings: s(i,j) = c(d,i) + c(d,j) - c(i,j).</a:t>
            </a:r>
            <a:br/>
            <a:br/>
            <a:r>
              <a:t>Limitation: Ignores heterogeneous parcel profitability and hard delivery cutoffs.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8-Point Star 8"/>
          <p:cNvSpPr/>
          <p:nvPr/>
        </p:nvSpPr>
        <p:spPr>
          <a:xfrm>
            <a:off x="4572000" y="1828800"/>
            <a:ext cx="365760" cy="36576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2. Dijkstra Shortest Paths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Non-negative edge relaxation with Binary Min-Heap Priority Queue runs in O((V + E) log V).</a:t>
            </a:r>
            <a:br/>
            <a:br/>
            <a:r>
              <a:t>Limitation: Solves single point-to-point shortest paths; does not select optimal parcel combinations.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8-Point Star 11"/>
          <p:cNvSpPr/>
          <p:nvPr/>
        </p:nvSpPr>
        <p:spPr>
          <a:xfrm>
            <a:off x="8229600" y="182880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3. 0/1 Knapsack DP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Bellman recurrence constructs 2D memoization table in pseudo-polynomial O(n · C) time.</a:t>
            </a:r>
            <a:br/>
            <a:br/>
            <a:r>
              <a:t>Limitation: Classical knapsack assumes static capacity, ignoring transit time and spatial stop sequences.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07040" cy="1371600"/>
          </a:xfrm>
          <a:prstGeom prst="roundRect">
            <a:avLst/>
          </a:prstGeom>
          <a:solidFill>
            <a:srgbClr val="FFF3EB"/>
          </a:solidFill>
          <a:ln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5923"/>
                </a:solidFill>
                <a:latin typeface="Arial"/>
              </a:defRPr>
            </a:pPr>
            <a:r>
              <a:t>🎯 IDENTIFIED RESEARCH GAP ADDRESSED BY SMARTROUTE</a:t>
            </a:r>
          </a:p>
          <a:p>
            <a:pPr>
              <a:spcBef>
                <a:spcPts val="400"/>
              </a:spcBef>
              <a:defRPr sz="1150">
                <a:solidFill>
                  <a:srgbClr val="0B3B3C"/>
                </a:solidFill>
                <a:latin typeface="Arial"/>
              </a:defRPr>
            </a:pPr>
            <a:r>
              <a:t>Existing models isolate parcel selection from spatial vehicle routing. SmartRoute integrates them into a Two-Tier Decoupled Pipeline with proactive feasibility repair: optimal parcel selection via 0/1 DP, routed along Dijkstra graph paths, with automated trimming of bottleneck stops.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Two-Tier Decoupled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65960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39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40680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399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59" y="3566160"/>
            <a:ext cx="457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146304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16459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1. Pool Ingestion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35 candidate orders across Hyderabad filtered for vehicle payload limit.</a:t>
            </a:r>
          </a:p>
        </p:txBody>
      </p:sp>
      <p:sp>
        <p:nvSpPr>
          <p:cNvPr id="20" name="8-Point Star 19"/>
          <p:cNvSpPr/>
          <p:nvPr/>
        </p:nvSpPr>
        <p:spPr>
          <a:xfrm>
            <a:off x="1737360" y="292608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74720" y="4297680"/>
            <a:ext cx="2377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4480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2. Tier 1: 0/1 DP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Bellman memoization table optimizes subset profit within payload capacity (O(n · C)).</a:t>
            </a:r>
          </a:p>
        </p:txBody>
      </p:sp>
      <p:sp>
        <p:nvSpPr>
          <p:cNvPr id="23" name="8-Point Star 22"/>
          <p:cNvSpPr/>
          <p:nvPr/>
        </p:nvSpPr>
        <p:spPr>
          <a:xfrm>
            <a:off x="4480560" y="3749039"/>
            <a:ext cx="365760" cy="36576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6459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3. Tier 2: Dijkstra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Binary Min-Heap computes turn-by-turn road paths (O((V+E) log V)).</a:t>
            </a:r>
          </a:p>
        </p:txBody>
      </p:sp>
      <p:sp>
        <p:nvSpPr>
          <p:cNvPr id="26" name="8-Point Star 25"/>
          <p:cNvSpPr/>
          <p:nvPr/>
        </p:nvSpPr>
        <p:spPr>
          <a:xfrm>
            <a:off x="7223760" y="292608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4297680"/>
            <a:ext cx="2377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3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480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4. Feasible Dispatch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Verifies SLA deadlines; systematically defers bottlenecks for 100% on-time delivery.</a:t>
            </a:r>
          </a:p>
        </p:txBody>
      </p:sp>
      <p:sp>
        <p:nvSpPr>
          <p:cNvPr id="29" name="8-Point Star 28"/>
          <p:cNvSpPr/>
          <p:nvPr/>
        </p:nvSpPr>
        <p:spPr>
          <a:xfrm>
            <a:off x="9966960" y="3749039"/>
            <a:ext cx="365760" cy="36576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METHODOLOGY: GRAPH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Urban Graph &amp; Dijkstra Min-Heap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3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8-Point Star 5"/>
          <p:cNvSpPr/>
          <p:nvPr/>
        </p:nvSpPr>
        <p:spPr>
          <a:xfrm>
            <a:off x="914400" y="1828800"/>
            <a:ext cx="365760" cy="36576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📍 Hyderabad Logistics Road Network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Representation: Undirected weighted graph G = (V, E) stored as an Adjacency List (Map&lt;string, Edge[]&gt;).</a:t>
            </a:r>
            <a:br/>
            <a:br/>
            <a:r>
              <a:t>• Vertices (|V| = 22): Central Depot at Main Parcel Warehouse (Begumpet), Ameerpet, Secunderabad, Hitec City, Gachibowli, Kukatpally, Miyapur, Patancheru, Sangareddy, and Woxsen University.</a:t>
            </a:r>
            <a:br/>
            <a:br/>
            <a:r>
              <a:t>• Edges (|E| = 34): Real metropolitan arterial roads and NH65 corridor with true distance weights.</a:t>
            </a:r>
            <a:br/>
            <a:br/>
            <a:r>
              <a:t>• Spatial Efficiency: Consumes O(V + E) memory rather than O(V²) dense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8-Point Star 8"/>
          <p:cNvSpPr/>
          <p:nvPr/>
        </p:nvSpPr>
        <p:spPr>
          <a:xfrm>
            <a:off x="6400800" y="182880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⚡ Binary Min-Heap Priority Queue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Core Complexity: O((|V| + |E|) · log |V|).</a:t>
            </a:r>
            <a:br/>
            <a:br/>
            <a:r>
              <a:t>• Motivation: Unsorted array scanning takes O(V²) because finding the minimum unvisited node requires O(V) scans. The Binary Min-Heap extracts min in O(1) and reheapifies in O(log V).</a:t>
            </a:r>
            <a:br/>
            <a:br/>
            <a:r>
              <a:t>• Edge Relaxation Condition:</a:t>
            </a:r>
            <a:br/>
            <a:r>
              <a:t>  if dist[u] + weight(u, v) &lt; dist[v]:</a:t>
            </a:r>
            <a:br/>
            <a:r>
              <a:t>      dist[v] = dist[u] + weight(u, v)</a:t>
            </a:r>
            <a:br/>
            <a:r>
              <a:t>      parent[v] = u</a:t>
            </a:r>
            <a:br/>
            <a:r>
              <a:t>      minHeap.push((dist[v], v))</a:t>
            </a:r>
            <a:br/>
            <a:br/>
            <a:r>
              <a:t>• Sub-millisecond Execution: Reconstructs exact turn-by-turn paths in &lt; 0.2 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METHODOLOGY: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0/1 Knapsack Dynamic Programming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8-Point Star 5"/>
          <p:cNvSpPr/>
          <p:nvPr/>
        </p:nvSpPr>
        <p:spPr>
          <a:xfrm>
            <a:off x="914400" y="1828800"/>
            <a:ext cx="365760" cy="36576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📐 Bellman Recurrence Formulation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Let DP[i][c] be maximum profit with first i packages and capacity c:</a:t>
            </a:r>
            <a:br/>
            <a:br/>
            <a:r>
              <a:t>  DP[i][c] = max(</a:t>
            </a:r>
            <a:br/>
            <a:r>
              <a:t>      DP[i-1][c],                  // Choice 0: SKIP</a:t>
            </a:r>
            <a:br/>
            <a:r>
              <a:t>      DP[i-1][c - w_i] + p_i        // Choice 1: TAKE</a:t>
            </a:r>
            <a:br/>
            <a:r>
              <a:t>  )</a:t>
            </a:r>
            <a:br/>
            <a:br/>
            <a:r>
              <a:t>• Optimal Substructure: Global optimal schedule consists of optimal sub-solutions.</a:t>
            </a:r>
            <a:br/>
            <a:br/>
            <a:r>
              <a:t>• Overlapping Subproblems: Stored in a 2D memoization table across all capacity increments.</a:t>
            </a:r>
            <a:br/>
            <a:br/>
            <a:r>
              <a:t>• Time Complexity: O(n · C) pseudo-polynomial 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8-Point Star 8"/>
          <p:cNvSpPr/>
          <p:nvPr/>
        </p:nvSpPr>
        <p:spPr>
          <a:xfrm>
            <a:off x="6400800" y="182880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🔍 Backtracking Trail &amp; Greedy Flaws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Backtracking Extraction:</a:t>
            </a:r>
            <a:br/>
            <a:r>
              <a:t>  Starting at DP[n][C], if DP[i][w] != DP[i-1][w], parcel i is added to the manifest and capacity w -= weight[i].</a:t>
            </a:r>
            <a:br/>
            <a:br/>
            <a:r>
              <a:t>• Why Greedy Heuristic Fails:</a:t>
            </a:r>
            <a:br/>
            <a:r>
              <a:t>  Greedy sorting by density (p/w) is mathematically optimal only for continuous (fractional) items.</a:t>
            </a:r>
            <a:br/>
            <a:br/>
            <a:r>
              <a:t>• Discrete Package Reality:</a:t>
            </a:r>
            <a:br/>
            <a:r>
              <a:t>  Greedy accepts low-weight packages first and leaves awkward capacity gaps, missing high-value shipments.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METHODOLOGY: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Route Invariants &amp; SLA Feasibility Repair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8-Point Star 5"/>
          <p:cNvSpPr/>
          <p:nvPr/>
        </p:nvSpPr>
        <p:spPr>
          <a:xfrm>
            <a:off x="914400" y="182880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1. Precedence Invariant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Invariant: Pickup(i) ≺ Drop(i).</a:t>
            </a:r>
            <a:br/>
            <a:br/>
            <a:r>
              <a:t>• State Tracking: Scheduler tracks 'pickedUp' and 'delivered' sets.</a:t>
            </a:r>
            <a:br/>
            <a:br/>
            <a:r>
              <a:t>• Action Gating: Drop stop is mathematically forbidden from candidate queue until physical pickup has occurred.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8-Point Star 8"/>
          <p:cNvSpPr/>
          <p:nvPr/>
        </p:nvSpPr>
        <p:spPr>
          <a:xfrm>
            <a:off x="4572000" y="1828800"/>
            <a:ext cx="365760" cy="36576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2. Payload Safety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Invariant: 0 ≤ Load(s) ≤ C at every single route leg.</a:t>
            </a:r>
            <a:br/>
            <a:br/>
            <a:r>
              <a:t>• Dynamic Tracking: Starts at 0 kg at Depot. At pickup: load += w. At drop: load -= w.</a:t>
            </a:r>
            <a:br/>
            <a:br/>
            <a:r>
              <a:t>• Telematics Safety: Overweight stops are pruned before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3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8-Point Star 11"/>
          <p:cNvSpPr/>
          <p:nvPr/>
        </p:nvSpPr>
        <p:spPr>
          <a:xfrm>
            <a:off x="8229600" y="1828800"/>
            <a:ext cx="365760" cy="36576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3. SLA Feasibility Repair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Invariant: Arrival(i) ≤ Deadline(i).</a:t>
            </a:r>
            <a:br/>
            <a:br/>
            <a:r>
              <a:t>• Bottleneck Pruning: If a delivery arrives late, scheduler identifies the lowest-margin offender.</a:t>
            </a:r>
            <a:br/>
            <a:br/>
            <a:r>
              <a:t>• Guaranteed Punctuality: Recalibrates route until 100% on-time delivery is achieved.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8-Point Star 2"/>
          <p:cNvSpPr/>
          <p:nvPr/>
        </p:nvSpPr>
        <p:spPr>
          <a:xfrm>
            <a:off x="1371600" y="1097280"/>
            <a:ext cx="2286000" cy="228600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12-Point Star 3"/>
          <p:cNvSpPr/>
          <p:nvPr/>
        </p:nvSpPr>
        <p:spPr>
          <a:xfrm>
            <a:off x="9326880" y="3657600"/>
            <a:ext cx="2560320" cy="2560320"/>
          </a:xfrm>
          <a:prstGeom prst="star12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619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Tenor Sans"/>
              </a:defRPr>
            </a:pPr>
            <a:r>
              <a:t>03. PROTOTYPE &amp; RESULTS</a:t>
            </a:r>
          </a:p>
          <a:p>
            <a:pPr algn="ctr">
              <a:spcBef>
                <a:spcPts val="1000"/>
              </a:spcBef>
              <a:defRPr sz="1600">
                <a:solidFill>
                  <a:srgbClr val="F4EFEA"/>
                </a:solidFill>
                <a:latin typeface="Arial"/>
              </a:defRPr>
            </a:pPr>
            <a:r>
              <a:t>Live Operations Platform, Algorithm Labs &amp; Empirical Benchmarks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Interactive Operations Dashboard &amp; Google Maps</a:t>
            </a:r>
          </a:p>
        </p:txBody>
      </p:sp>
      <p:pic>
        <p:nvPicPr>
          <p:cNvPr id="5" name="Picture 4" descr="operation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8-Point Star 6"/>
          <p:cNvSpPr/>
          <p:nvPr/>
        </p:nvSpPr>
        <p:spPr>
          <a:xfrm>
            <a:off x="7315200" y="182880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🚀 Key Operational Capabilities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Authentic Google Maps Layer:</a:t>
            </a:r>
            <a:br/>
            <a:r>
              <a:t>  Renders live Roadmap &amp; Satellite tiles with pan/zoom and Google logo.</a:t>
            </a:r>
            <a:br/>
            <a:br/>
            <a:r>
              <a:t>• NH65 Corridor Routing:</a:t>
            </a:r>
            <a:br/>
            <a:r>
              <a:t>  Calculates complete route across Hyderabad to Woxsen University (Kamkole).</a:t>
            </a:r>
            <a:br/>
            <a:br/>
            <a:r>
              <a:t>• Real-Time Telematics:</a:t>
            </a:r>
            <a:br/>
            <a:r>
              <a:t>  Tracks live vehicle load progression (0kg → 4kg → 12kg → 44kg).</a:t>
            </a:r>
            <a:br/>
            <a:br/>
            <a:r>
              <a:t>• Financial Performance:</a:t>
            </a:r>
            <a:br/>
            <a:r>
              <a:t>  ₹10,190 realized profit across 12 scheduled orders with zero SLA late penalties.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ALGORITHM LAB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Lab 2: Dijkstra &amp; Min-Heap Step Tracer</a:t>
            </a:r>
          </a:p>
        </p:txBody>
      </p:sp>
      <p:pic>
        <p:nvPicPr>
          <p:cNvPr id="5" name="Picture 4" descr="lab2_dijks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8-Point Star 6"/>
          <p:cNvSpPr/>
          <p:nvPr/>
        </p:nvSpPr>
        <p:spPr>
          <a:xfrm>
            <a:off x="7315200" y="1828800"/>
            <a:ext cx="365760" cy="36576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🔍 Step-by-Step Pedagogical Visualizer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Arbitrary Hub Selection:</a:t>
            </a:r>
            <a:br/>
            <a:r>
              <a:t>  Select any source hub (Main Parcel Warehouse) and destination (Woxsen University).</a:t>
            </a:r>
            <a:br/>
            <a:br/>
            <a:r>
              <a:t>• Execution Playhead (Step 1 of 49):</a:t>
            </a:r>
            <a:br/>
            <a:r>
              <a:t>  Step forward, backward, or auto-play through edge relaxations.</a:t>
            </a:r>
            <a:br/>
            <a:br/>
            <a:r>
              <a:t>• Live Min-Heap Inspection:</a:t>
            </a:r>
            <a:br/>
            <a:r>
              <a:t>  Visualizes root extractions in O(1) and heap sift-ups in O(log V).</a:t>
            </a:r>
            <a:br/>
            <a:br/>
            <a:r>
              <a:t>• Shortest Path Reconstruction:</a:t>
            </a:r>
            <a:br/>
            <a:r>
              <a:t>  Begumpet → Ameerpet → Kukatpally → Miyapur → Patancheru → Sangareddy → Woxsen (70 km, 131 mins).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ALGORITHM LAB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Lab 4: 0/1 Knapsack 2D DP Memoization Matrix</a:t>
            </a:r>
          </a:p>
        </p:txBody>
      </p:sp>
      <p:pic>
        <p:nvPicPr>
          <p:cNvPr id="5" name="Picture 4" descr="lab4_knaps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8-Point Star 6"/>
          <p:cNvSpPr/>
          <p:nvPr/>
        </p:nvSpPr>
        <p:spPr>
          <a:xfrm>
            <a:off x="7315200" y="1828800"/>
            <a:ext cx="365760" cy="3657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📊 Dynamic Programming Transparency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Complete 2D Table (35 × 75):</a:t>
            </a:r>
            <a:br/>
            <a:r>
              <a:t>  Rows represent parcel requests; columns represent incremental capacity from 0 to 75 kg.</a:t>
            </a:r>
            <a:br/>
            <a:br/>
            <a:r>
              <a:t>• Interactive Cell Arithmetic:</a:t>
            </a:r>
            <a:br/>
            <a:r>
              <a:t>  Clicking any cell reveals the exact Bellman decision: SKIP vs TAKE.</a:t>
            </a:r>
            <a:br/>
            <a:br/>
            <a:r>
              <a:t>• Golden Backtracking Trail:</a:t>
            </a:r>
            <a:br/>
            <a:r>
              <a:t>  Vibrant green highlight traces which exact packages compose the global optimum.</a:t>
            </a:r>
            <a:br/>
            <a:br/>
            <a:r>
              <a:t>• Theoretical Optimum:</a:t>
            </a:r>
            <a:br/>
            <a:r>
              <a:t>  ₹18,290 maximum achievable profit before spatial deadlines are applied.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Key Performance Telematics &amp; Delivery Metrics</a:t>
            </a:r>
          </a:p>
        </p:txBody>
      </p:sp>
      <p:sp>
        <p:nvSpPr>
          <p:cNvPr id="5" name="Chevron 4"/>
          <p:cNvSpPr/>
          <p:nvPr/>
        </p:nvSpPr>
        <p:spPr>
          <a:xfrm rot="120000">
            <a:off x="-914400" y="5669280"/>
            <a:ext cx="14020495" cy="1371600"/>
          </a:xfrm>
          <a:prstGeom prst="chevron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8-Point Star 5"/>
          <p:cNvSpPr/>
          <p:nvPr/>
        </p:nvSpPr>
        <p:spPr>
          <a:xfrm>
            <a:off x="1097280" y="2011680"/>
            <a:ext cx="3108960" cy="3108960"/>
          </a:xfrm>
          <a:prstGeom prst="star8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2560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Tenor Sans"/>
              </a:defRPr>
            </a:pPr>
            <a:r>
              <a:t>100%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On-Time Fulfillment</a:t>
            </a:r>
            <a:br/>
            <a:r>
              <a:t>Zero SLA Breaches</a:t>
            </a:r>
          </a:p>
        </p:txBody>
      </p:sp>
      <p:sp>
        <p:nvSpPr>
          <p:cNvPr id="8" name="8-Point Star 7"/>
          <p:cNvSpPr/>
          <p:nvPr/>
        </p:nvSpPr>
        <p:spPr>
          <a:xfrm>
            <a:off x="4572000" y="2011680"/>
            <a:ext cx="3108960" cy="310896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560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enor Sans"/>
              </a:defRPr>
            </a:pPr>
            <a:r>
              <a:t>₹10,190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Net Dispatched Profit</a:t>
            </a:r>
            <a:br/>
            <a:r>
              <a:t>+25.5% Over Greedy</a:t>
            </a:r>
          </a:p>
        </p:txBody>
      </p:sp>
      <p:sp>
        <p:nvSpPr>
          <p:cNvPr id="10" name="8-Point Star 9"/>
          <p:cNvSpPr/>
          <p:nvPr/>
        </p:nvSpPr>
        <p:spPr>
          <a:xfrm>
            <a:off x="8138160" y="2011680"/>
            <a:ext cx="3108960" cy="310896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2560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Tenor Sans"/>
              </a:defRPr>
            </a:pPr>
            <a:r>
              <a:t>230 km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Total Route Distance</a:t>
            </a:r>
            <a:br/>
            <a:r>
              <a:t>Optimal Road Sequence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COMPARATIVE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Benchmark Matrix: Greedy vs. 0/1 Knapsack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517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Greedy Density (p/w)</a:t>
                      </a:r>
                    </a:p>
                  </a:txBody>
                  <a:tcPr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Greedy Deadline (EDF)</a:t>
                      </a:r>
                    </a:p>
                  </a:txBody>
                  <a:tcPr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SmartRoute DP Pipeline</a:t>
                      </a:r>
                    </a:p>
                  </a:txBody>
                  <a:tcPr>
                    <a:solidFill>
                      <a:srgbClr val="0B3B3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Theoretical Packing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₹18,960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₹14,200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5923"/>
                          </a:solidFill>
                          <a:latin typeface="Arial"/>
                        </a:defRPr>
                      </a:pPr>
                      <a:r>
                        <a:t>₹18,290 (Globally Optimal)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Dispatched Feasible Profit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₹8,120 (4 SLA breaches)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₹7,540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5923"/>
                          </a:solidFill>
                          <a:latin typeface="Arial"/>
                        </a:defRPr>
                      </a:pPr>
                      <a:r>
                        <a:t>₹10,190 (+25.5% Revenue)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Vehicle Payload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74.5 / 75 kg (99.3%)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38.0 / 75 kg (50.6%)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5923"/>
                          </a:solidFill>
                          <a:latin typeface="Arial"/>
                        </a:defRPr>
                      </a:pPr>
                      <a:r>
                        <a:t>44.0 / 75 kg (58.7% Feasible)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Orders Dispatched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 accepted (unverified)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 orders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5923"/>
                          </a:solidFill>
                          <a:latin typeface="Arial"/>
                        </a:defRPr>
                      </a:pPr>
                      <a:r>
                        <a:t>12 orders dispatched</a:t>
                      </a:r>
                    </a:p>
                  </a:txBody>
                  <a:tcPr>
                    <a:solidFill>
                      <a:srgbClr val="FFF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Deadline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FAILED (4 Late Deliveries)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Punctual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5923"/>
                          </a:solidFill>
                          <a:latin typeface="Arial"/>
                        </a:defRPr>
                      </a:pPr>
                      <a:r>
                        <a:t>100% Punctual (Zero Late)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FACULTY VIVA VOCE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Academic Defense: Core Algorithmic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Q1: Why not pure DP for full VRP?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Answer: Exact multi-stop VRP with Time Windows requires tracking the visited subset in DP state (Held-Karp). This incurs O(n² · 2ⁿ) exponential states. For 35 orders, 2³⁵ ≈ 34 billion states! Decoupling into Knapsack DP + Dijkstra heuristic executes in 12 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Q2: Why use a Binary Min-Heap?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Answer: Without a Min-Heap, finding the next unvisited vertex requires an O(V) linear scan, giving O(V²) total runtime. A Binary Min-Heap provides O(1) root lookup and O(log V) sift operations, reducing complexity to O((V+E) log 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Q3: When does Greedy match DP?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Answer: Greedy is optimal for Fractional Knapsack (divisible items). In discrete 0/1 Knapsack, Greedy is optimal only when item weights divide capacity evenly with identical profit densities. Otherwise, Greedy leaves capacity fragments.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Q4: How enforce Pickup-Before-Drop?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Answer: The scheduler maintains 'pickedUp' and 'delivered' hash sets. A DROP action is strictly locked until its package ID exists in 'pickedUp'. Furthermore, vehicle load invariants (0 ≤ load ≤ C) are verified at every stop.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923"/>
                </a:solidFill>
                <a:latin typeface="Arial"/>
              </a:defRPr>
            </a:pPr>
            <a:r>
              <a:t>●  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3C"/>
                </a:solidFill>
                <a:latin typeface="Tenor Sans"/>
              </a:defRPr>
            </a:pPr>
            <a:r>
              <a:t>Course Instructor &amp; Student Developers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E85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8-Point Star 6"/>
          <p:cNvSpPr/>
          <p:nvPr/>
        </p:nvSpPr>
        <p:spPr>
          <a:xfrm>
            <a:off x="2651760" y="1645920"/>
            <a:ext cx="502920" cy="50292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103120"/>
            <a:ext cx="1280160" cy="1280160"/>
          </a:xfrm>
          <a:prstGeom prst="ellipse">
            <a:avLst/>
          </a:prstGeom>
          <a:solidFill>
            <a:srgbClr val="F8B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3B3C"/>
                </a:solidFill>
                <a:latin typeface="Tenor Sans"/>
              </a:defRPr>
            </a:pPr>
            <a:r>
              <a:t>Himanshu Pandit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Algorithmic Core &amp;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8-Point Star 10"/>
          <p:cNvSpPr/>
          <p:nvPr/>
        </p:nvSpPr>
        <p:spPr>
          <a:xfrm>
            <a:off x="5349240" y="1645920"/>
            <a:ext cx="502920" cy="50292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23360" y="2103120"/>
            <a:ext cx="1280160" cy="1280160"/>
          </a:xfrm>
          <a:prstGeom prst="ellipse">
            <a:avLst/>
          </a:prstGeom>
          <a:solidFill>
            <a:srgbClr val="F8B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3B3C"/>
                </a:solidFill>
                <a:latin typeface="Tenor Sans"/>
              </a:defRPr>
            </a:pPr>
            <a:r>
              <a:t>Devyani Pawar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Graph &amp; Dijkstra Min-Heap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8-Point Star 14"/>
          <p:cNvSpPr/>
          <p:nvPr/>
        </p:nvSpPr>
        <p:spPr>
          <a:xfrm>
            <a:off x="8046720" y="1645920"/>
            <a:ext cx="502920" cy="502920"/>
          </a:xfrm>
          <a:prstGeom prst="star8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0840" y="2103120"/>
            <a:ext cx="1280160" cy="1280160"/>
          </a:xfrm>
          <a:prstGeom prst="ellipse">
            <a:avLst/>
          </a:prstGeom>
          <a:solidFill>
            <a:srgbClr val="F8B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3B3C"/>
                </a:solidFill>
                <a:latin typeface="Tenor Sans"/>
              </a:defRPr>
            </a:pPr>
            <a:r>
              <a:t>Heman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0/1 Knapsack DP Optimization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82880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8-Point Star 18"/>
          <p:cNvSpPr/>
          <p:nvPr/>
        </p:nvSpPr>
        <p:spPr>
          <a:xfrm>
            <a:off x="10744200" y="1645920"/>
            <a:ext cx="502920" cy="502920"/>
          </a:xfrm>
          <a:prstGeom prst="star8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0" y="2103120"/>
            <a:ext cx="1280160" cy="1280160"/>
          </a:xfrm>
          <a:prstGeom prst="ellipse">
            <a:avLst/>
          </a:prstGeom>
          <a:solidFill>
            <a:srgbClr val="F8B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3B3C"/>
                </a:solidFill>
                <a:latin typeface="Tenor Sans"/>
              </a:defRPr>
            </a:pPr>
            <a:r>
              <a:t>Rimika Jain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Empirical Benchmarks &amp; Telematics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enor Sans"/>
              </a:defRPr>
            </a:pPr>
            <a:r>
              <a:t>GUIDED BY: DR. SYED JAVED PASHA</a:t>
            </a:r>
          </a:p>
          <a:p>
            <a:pPr algn="ctr">
              <a:spcBef>
                <a:spcPts val="400"/>
              </a:spcBef>
              <a:defRPr sz="1200">
                <a:solidFill>
                  <a:srgbClr val="F4EFEA"/>
                </a:solidFill>
                <a:latin typeface="Arial"/>
              </a:defRPr>
            </a:pPr>
            <a:r>
              <a:t>Department of Computer Science &amp; Engineering • Design &amp; Analysis of Algorithms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12-Point Star 2"/>
          <p:cNvSpPr/>
          <p:nvPr/>
        </p:nvSpPr>
        <p:spPr>
          <a:xfrm>
            <a:off x="4480560" y="1371600"/>
            <a:ext cx="3200400" cy="3200400"/>
          </a:xfrm>
          <a:prstGeom prst="star12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6705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B3B3C"/>
                </a:solidFill>
                <a:latin typeface="Tenor Sans"/>
              </a:defRPr>
            </a:pPr>
            <a:r>
              <a:t>THANK YOU!</a:t>
            </a:r>
          </a:p>
          <a:p>
            <a:pPr algn="ctr">
              <a:spcBef>
                <a:spcPts val="6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t>SmartRoute: Last-Mile Delivery Operations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🏆 Summary of Achievements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Mathematical optimality on payload packing (0/1 DP).</a:t>
            </a:r>
            <a:br/>
            <a:r>
              <a:t>• 100% on-time delivery across 22 Hyderabad hubs.</a:t>
            </a:r>
            <a:br/>
            <a:r>
              <a:t>• Full corridor coverage including Woxsen University on NH65.</a:t>
            </a:r>
            <a:br/>
            <a:r>
              <a:t>• Complete viva transparency via Algorithm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3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3C"/>
                </a:solidFill>
                <a:latin typeface="Tenor Sans"/>
              </a:defRPr>
            </a:pPr>
            <a:r>
              <a:t>🔭 Future Research Horizons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Multi-Vehicle Fleet Partitioning (Genetic K-Means).</a:t>
            </a:r>
            <a:br/>
            <a:r>
              <a:t>• Dynamic Time-Dependent Traffic Edge Weights.</a:t>
            </a:r>
            <a:br/>
            <a:r>
              <a:t>• EV Battery State-of-Charge &amp; Charging Insertions.</a:t>
            </a:r>
            <a:br/>
            <a:r>
              <a:t>• Real-Time Dispatching with stochastic cancellations.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