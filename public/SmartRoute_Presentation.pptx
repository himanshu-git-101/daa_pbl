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pic>
        <p:nvPicPr>
          <p:cNvPr id="2" name="Picture 1" descr="gradient_cover_banner.png"/>
          <p:cNvPicPr>
            <a:picLocks noChangeAspect="1"/>
          </p:cNvPicPr>
          <p:nvPr/>
        </p:nvPicPr>
        <p:blipFill>
          <a:blip r:embed="rId2"/>
          <a:stretch>
            <a:fillRect/>
          </a:stretch>
        </p:blipFill>
        <p:spPr>
          <a:xfrm>
            <a:off x="731520" y="502920"/>
            <a:ext cx="10728655" cy="2926080"/>
          </a:xfrm>
          <a:prstGeom prst="rect">
            <a:avLst/>
          </a:prstGeom>
        </p:spPr>
      </p:pic>
      <p:sp>
        <p:nvSpPr>
          <p:cNvPr id="3" name="TextBox 2"/>
          <p:cNvSpPr txBox="1"/>
          <p:nvPr/>
        </p:nvSpPr>
        <p:spPr>
          <a:xfrm>
            <a:off x="731520" y="3703320"/>
            <a:ext cx="10728655" cy="1097280"/>
          </a:xfrm>
          <a:prstGeom prst="rect">
            <a:avLst/>
          </a:prstGeom>
          <a:noFill/>
        </p:spPr>
        <p:txBody>
          <a:bodyPr wrap="square" lIns="0" tIns="0" rIns="0" bIns="0">
            <a:spAutoFit/>
          </a:bodyPr>
          <a:lstStyle/>
          <a:p>
            <a:pPr>
              <a:defRPr sz="4200" b="1">
                <a:solidFill>
                  <a:srgbClr val="241C1C"/>
                </a:solidFill>
                <a:latin typeface="The Seasons"/>
              </a:defRPr>
            </a:pPr>
            <a:r>
              <a:t>SMARTROUTE: ALGORITHMIC OPTIMIZATION</a:t>
            </a:r>
          </a:p>
        </p:txBody>
      </p:sp>
      <p:sp>
        <p:nvSpPr>
          <p:cNvPr id="4" name="Rounded Rectangle 3"/>
          <p:cNvSpPr/>
          <p:nvPr/>
        </p:nvSpPr>
        <p:spPr>
          <a:xfrm>
            <a:off x="731520" y="4892040"/>
            <a:ext cx="621792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1000" b="1">
                <a:solidFill>
                  <a:srgbClr val="FFFFFF"/>
                </a:solidFill>
                <a:latin typeface="Inter"/>
              </a:defRPr>
            </a:pPr>
            <a:r>
              <a:t>DATA STRUCTURES &amp; ALGORITHMS • COMPARATIVE RESEARCH PRESENTATION</a:t>
            </a:r>
          </a:p>
        </p:txBody>
      </p:sp>
      <p:sp>
        <p:nvSpPr>
          <p:cNvPr id="5" name="TextBox 4"/>
          <p:cNvSpPr txBox="1"/>
          <p:nvPr/>
        </p:nvSpPr>
        <p:spPr>
          <a:xfrm>
            <a:off x="731520" y="5349240"/>
            <a:ext cx="10698480" cy="457200"/>
          </a:xfrm>
          <a:prstGeom prst="rect">
            <a:avLst/>
          </a:prstGeom>
          <a:noFill/>
        </p:spPr>
        <p:txBody>
          <a:bodyPr wrap="none">
            <a:spAutoFit/>
          </a:bodyPr>
          <a:lstStyle/>
          <a:p>
            <a:pPr>
              <a:defRPr sz="1150" b="1">
                <a:solidFill>
                  <a:srgbClr val="736964"/>
                </a:solidFill>
                <a:latin typeface="Inter"/>
              </a:defRPr>
            </a:pPr>
            <a:r>
              <a:t>KNAPSACK DYNAMIC PROGRAMMING  •  GREEDY HEURISTICS  •  DIJKSTRA'S ALGORITHM  •  BELLMAN-FORD</a:t>
            </a:r>
          </a:p>
        </p:txBody>
      </p:sp>
      <p:sp>
        <p:nvSpPr>
          <p:cNvPr id="6" name="TextBox 5"/>
          <p:cNvSpPr txBox="1"/>
          <p:nvPr/>
        </p:nvSpPr>
        <p:spPr>
          <a:xfrm>
            <a:off x="731520" y="5897880"/>
            <a:ext cx="10698480" cy="548640"/>
          </a:xfrm>
          <a:prstGeom prst="rect">
            <a:avLst/>
          </a:prstGeom>
          <a:noFill/>
        </p:spPr>
        <p:txBody>
          <a:bodyPr wrap="none">
            <a:spAutoFit/>
          </a:bodyPr>
          <a:lstStyle/>
          <a:p>
            <a:pPr>
              <a:defRPr sz="1000">
                <a:solidFill>
                  <a:srgbClr val="241C1C"/>
                </a:solidFill>
                <a:latin typeface="Inter"/>
              </a:defRPr>
            </a:pPr>
            <a:r>
              <a:t>COURSE INSTRUCTOR: DR. SYED JAVED PASHA   |   TEAM: HIMANSHU PANDIT • DEVYANI PAWAR • HEMAN • RIMIKA JAIN   |   WOXSEN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pic>
        <p:nvPicPr>
          <p:cNvPr id="2" name="Picture 1" descr="gradient_vertical_coral.png"/>
          <p:cNvPicPr>
            <a:picLocks noChangeAspect="1"/>
          </p:cNvPicPr>
          <p:nvPr/>
        </p:nvPicPr>
        <p:blipFill>
          <a:blip r:embed="rId2"/>
          <a:stretch>
            <a:fillRect/>
          </a:stretch>
        </p:blipFill>
        <p:spPr>
          <a:xfrm>
            <a:off x="731520" y="685800"/>
            <a:ext cx="3657600" cy="5486400"/>
          </a:xfrm>
          <a:prstGeom prst="rect">
            <a:avLst/>
          </a:prstGeom>
        </p:spPr>
      </p:pic>
      <p:sp>
        <p:nvSpPr>
          <p:cNvPr id="3" name="TextBox 2"/>
          <p:cNvSpPr txBox="1"/>
          <p:nvPr/>
        </p:nvSpPr>
        <p:spPr>
          <a:xfrm>
            <a:off x="4937760" y="685800"/>
            <a:ext cx="6400800" cy="822960"/>
          </a:xfrm>
          <a:prstGeom prst="rect">
            <a:avLst/>
          </a:prstGeom>
          <a:noFill/>
        </p:spPr>
        <p:txBody>
          <a:bodyPr wrap="square" lIns="0" tIns="0" rIns="0" bIns="0">
            <a:spAutoFit/>
          </a:bodyPr>
          <a:lstStyle/>
          <a:p>
            <a:pPr>
              <a:defRPr sz="4200" b="1">
                <a:solidFill>
                  <a:srgbClr val="241C1C"/>
                </a:solidFill>
                <a:latin typeface="The Seasons"/>
              </a:defRPr>
            </a:pPr>
            <a:r>
              <a:t>AGENDA</a:t>
            </a:r>
          </a:p>
        </p:txBody>
      </p:sp>
      <p:sp>
        <p:nvSpPr>
          <p:cNvPr id="4" name="Oval 3"/>
          <p:cNvSpPr/>
          <p:nvPr/>
        </p:nvSpPr>
        <p:spPr>
          <a:xfrm>
            <a:off x="4937760" y="1691640"/>
            <a:ext cx="402336" cy="402336"/>
          </a:xfrm>
          <a:prstGeom prst="ellipse">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300" b="1">
                <a:solidFill>
                  <a:srgbClr val="FFFFFF"/>
                </a:solidFill>
                <a:latin typeface="Inter"/>
              </a:defRPr>
            </a:pPr>
            <a:r>
              <a:t>1</a:t>
            </a:r>
          </a:p>
        </p:txBody>
      </p:sp>
      <p:sp>
        <p:nvSpPr>
          <p:cNvPr id="5" name="TextBox 4"/>
          <p:cNvSpPr txBox="1"/>
          <p:nvPr/>
        </p:nvSpPr>
        <p:spPr>
          <a:xfrm>
            <a:off x="5532120" y="1645920"/>
            <a:ext cx="5943600" cy="594360"/>
          </a:xfrm>
          <a:prstGeom prst="rect">
            <a:avLst/>
          </a:prstGeom>
          <a:noFill/>
        </p:spPr>
        <p:txBody>
          <a:bodyPr wrap="none" lIns="0" tIns="0" rIns="0" bIns="0">
            <a:spAutoFit/>
          </a:bodyPr>
          <a:lstStyle/>
          <a:p>
            <a:pPr>
              <a:defRPr sz="1300" b="1">
                <a:solidFill>
                  <a:srgbClr val="241C1C"/>
                </a:solidFill>
                <a:latin typeface="Inter"/>
              </a:defRPr>
            </a:pPr>
            <a:r>
              <a:t>INTRODUCTION</a:t>
            </a:r>
          </a:p>
          <a:p>
            <a:pPr>
              <a:defRPr sz="1000">
                <a:solidFill>
                  <a:srgbClr val="736964"/>
                </a:solidFill>
                <a:latin typeface="Inter"/>
              </a:defRPr>
            </a:pPr>
            <a:r>
              <a:t>Urban last-mile logistics context &amp; the 4 core DAA algorithmic pillars</a:t>
            </a:r>
          </a:p>
        </p:txBody>
      </p:sp>
      <p:sp>
        <p:nvSpPr>
          <p:cNvPr id="6" name="Oval 5"/>
          <p:cNvSpPr/>
          <p:nvPr/>
        </p:nvSpPr>
        <p:spPr>
          <a:xfrm>
            <a:off x="4937760" y="2468880"/>
            <a:ext cx="402336" cy="402336"/>
          </a:xfrm>
          <a:prstGeom prst="ellipse">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300" b="1">
                <a:solidFill>
                  <a:srgbClr val="FFFFFF"/>
                </a:solidFill>
                <a:latin typeface="Inter"/>
              </a:defRPr>
            </a:pPr>
            <a:r>
              <a:t>2</a:t>
            </a:r>
          </a:p>
        </p:txBody>
      </p:sp>
      <p:sp>
        <p:nvSpPr>
          <p:cNvPr id="7" name="TextBox 6"/>
          <p:cNvSpPr txBox="1"/>
          <p:nvPr/>
        </p:nvSpPr>
        <p:spPr>
          <a:xfrm>
            <a:off x="5532120" y="2423160"/>
            <a:ext cx="5943600" cy="594360"/>
          </a:xfrm>
          <a:prstGeom prst="rect">
            <a:avLst/>
          </a:prstGeom>
          <a:noFill/>
        </p:spPr>
        <p:txBody>
          <a:bodyPr wrap="none" lIns="0" tIns="0" rIns="0" bIns="0">
            <a:spAutoFit/>
          </a:bodyPr>
          <a:lstStyle/>
          <a:p>
            <a:pPr>
              <a:defRPr sz="1300" b="1">
                <a:solidFill>
                  <a:srgbClr val="241C1C"/>
                </a:solidFill>
                <a:latin typeface="Inter"/>
              </a:defRPr>
            </a:pPr>
            <a:r>
              <a:t>PROBLEM STATEMENT</a:t>
            </a:r>
          </a:p>
          <a:p>
            <a:pPr>
              <a:defRPr sz="1000">
                <a:solidFill>
                  <a:srgbClr val="736964"/>
                </a:solidFill>
                <a:latin typeface="Inter"/>
              </a:defRPr>
            </a:pPr>
            <a:r>
              <a:t>Dual bottleneck: combinatorial packing challenge &amp; congested spatial routing</a:t>
            </a:r>
          </a:p>
        </p:txBody>
      </p:sp>
      <p:sp>
        <p:nvSpPr>
          <p:cNvPr id="8" name="Oval 7"/>
          <p:cNvSpPr/>
          <p:nvPr/>
        </p:nvSpPr>
        <p:spPr>
          <a:xfrm>
            <a:off x="4937760" y="3246120"/>
            <a:ext cx="402336" cy="402336"/>
          </a:xfrm>
          <a:prstGeom prst="ellipse">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300" b="1">
                <a:solidFill>
                  <a:srgbClr val="FFFFFF"/>
                </a:solidFill>
                <a:latin typeface="Inter"/>
              </a:defRPr>
            </a:pPr>
            <a:r>
              <a:t>3</a:t>
            </a:r>
          </a:p>
        </p:txBody>
      </p:sp>
      <p:sp>
        <p:nvSpPr>
          <p:cNvPr id="9" name="TextBox 8"/>
          <p:cNvSpPr txBox="1"/>
          <p:nvPr/>
        </p:nvSpPr>
        <p:spPr>
          <a:xfrm>
            <a:off x="5532120" y="3200400"/>
            <a:ext cx="5943600" cy="594360"/>
          </a:xfrm>
          <a:prstGeom prst="rect">
            <a:avLst/>
          </a:prstGeom>
          <a:noFill/>
        </p:spPr>
        <p:txBody>
          <a:bodyPr wrap="none" lIns="0" tIns="0" rIns="0" bIns="0">
            <a:spAutoFit/>
          </a:bodyPr>
          <a:lstStyle/>
          <a:p>
            <a:pPr>
              <a:defRPr sz="1300" b="1">
                <a:solidFill>
                  <a:srgbClr val="241C1C"/>
                </a:solidFill>
                <a:latin typeface="Inter"/>
              </a:defRPr>
            </a:pPr>
            <a:r>
              <a:t>LITERATURE REVIEW</a:t>
            </a:r>
          </a:p>
          <a:p>
            <a:pPr>
              <a:defRPr sz="1000">
                <a:solidFill>
                  <a:srgbClr val="736964"/>
                </a:solidFill>
                <a:latin typeface="Inter"/>
              </a:defRPr>
            </a:pPr>
            <a:r>
              <a:t>Theoretical foundations: Bellman, Dantzig, Dijkstra, and Ford</a:t>
            </a:r>
          </a:p>
        </p:txBody>
      </p:sp>
      <p:sp>
        <p:nvSpPr>
          <p:cNvPr id="10" name="Oval 9"/>
          <p:cNvSpPr/>
          <p:nvPr/>
        </p:nvSpPr>
        <p:spPr>
          <a:xfrm>
            <a:off x="4937760" y="4023360"/>
            <a:ext cx="402336" cy="402336"/>
          </a:xfrm>
          <a:prstGeom prst="ellipse">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300" b="1">
                <a:solidFill>
                  <a:srgbClr val="FFFFFF"/>
                </a:solidFill>
                <a:latin typeface="Inter"/>
              </a:defRPr>
            </a:pPr>
            <a:r>
              <a:t>4</a:t>
            </a:r>
          </a:p>
        </p:txBody>
      </p:sp>
      <p:sp>
        <p:nvSpPr>
          <p:cNvPr id="11" name="TextBox 10"/>
          <p:cNvSpPr txBox="1"/>
          <p:nvPr/>
        </p:nvSpPr>
        <p:spPr>
          <a:xfrm>
            <a:off x="5532120" y="3977640"/>
            <a:ext cx="5943600" cy="594360"/>
          </a:xfrm>
          <a:prstGeom prst="rect">
            <a:avLst/>
          </a:prstGeom>
          <a:noFill/>
        </p:spPr>
        <p:txBody>
          <a:bodyPr wrap="none" lIns="0" tIns="0" rIns="0" bIns="0">
            <a:spAutoFit/>
          </a:bodyPr>
          <a:lstStyle/>
          <a:p>
            <a:pPr>
              <a:defRPr sz="1300" b="1">
                <a:solidFill>
                  <a:srgbClr val="241C1C"/>
                </a:solidFill>
                <a:latin typeface="Inter"/>
              </a:defRPr>
            </a:pPr>
            <a:r>
              <a:t>METHODOLOGY</a:t>
            </a:r>
          </a:p>
          <a:p>
            <a:pPr>
              <a:defRPr sz="1000">
                <a:solidFill>
                  <a:srgbClr val="736964"/>
                </a:solidFill>
                <a:latin typeface="Inter"/>
              </a:defRPr>
            </a:pPr>
            <a:r>
              <a:t>Deep mathematical formulations of Knapsack DP, Greedy, Dijkstra &amp; Bellman-Ford</a:t>
            </a:r>
          </a:p>
        </p:txBody>
      </p:sp>
      <p:sp>
        <p:nvSpPr>
          <p:cNvPr id="12" name="Oval 11"/>
          <p:cNvSpPr/>
          <p:nvPr/>
        </p:nvSpPr>
        <p:spPr>
          <a:xfrm>
            <a:off x="4937760" y="4800600"/>
            <a:ext cx="402336" cy="402336"/>
          </a:xfrm>
          <a:prstGeom prst="ellipse">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300" b="1">
                <a:solidFill>
                  <a:srgbClr val="FFFFFF"/>
                </a:solidFill>
                <a:latin typeface="Inter"/>
              </a:defRPr>
            </a:pPr>
            <a:r>
              <a:t>5</a:t>
            </a:r>
          </a:p>
        </p:txBody>
      </p:sp>
      <p:sp>
        <p:nvSpPr>
          <p:cNvPr id="13" name="TextBox 12"/>
          <p:cNvSpPr txBox="1"/>
          <p:nvPr/>
        </p:nvSpPr>
        <p:spPr>
          <a:xfrm>
            <a:off x="5532120" y="4754880"/>
            <a:ext cx="5943600" cy="594360"/>
          </a:xfrm>
          <a:prstGeom prst="rect">
            <a:avLst/>
          </a:prstGeom>
          <a:noFill/>
        </p:spPr>
        <p:txBody>
          <a:bodyPr wrap="none" lIns="0" tIns="0" rIns="0" bIns="0">
            <a:spAutoFit/>
          </a:bodyPr>
          <a:lstStyle/>
          <a:p>
            <a:pPr>
              <a:defRPr sz="1300" b="1">
                <a:solidFill>
                  <a:srgbClr val="241C1C"/>
                </a:solidFill>
                <a:latin typeface="Inter"/>
              </a:defRPr>
            </a:pPr>
            <a:r>
              <a:t>SOLUTION &amp; PROTOTYPE</a:t>
            </a:r>
          </a:p>
          <a:p>
            <a:pPr>
              <a:defRPr sz="1000">
                <a:solidFill>
                  <a:srgbClr val="736964"/>
                </a:solidFill>
                <a:latin typeface="Inter"/>
              </a:defRPr>
            </a:pPr>
            <a:r>
              <a:t>SmartRoute dual-engine system architecture &amp; live interactive dashboard</a:t>
            </a:r>
          </a:p>
        </p:txBody>
      </p:sp>
      <p:sp>
        <p:nvSpPr>
          <p:cNvPr id="14" name="Oval 13"/>
          <p:cNvSpPr/>
          <p:nvPr/>
        </p:nvSpPr>
        <p:spPr>
          <a:xfrm>
            <a:off x="4937760" y="5577840"/>
            <a:ext cx="402336" cy="402336"/>
          </a:xfrm>
          <a:prstGeom prst="ellipse">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300" b="1">
                <a:solidFill>
                  <a:srgbClr val="FFFFFF"/>
                </a:solidFill>
                <a:latin typeface="Inter"/>
              </a:defRPr>
            </a:pPr>
            <a:r>
              <a:t>6</a:t>
            </a:r>
          </a:p>
        </p:txBody>
      </p:sp>
      <p:sp>
        <p:nvSpPr>
          <p:cNvPr id="15" name="TextBox 14"/>
          <p:cNvSpPr txBox="1"/>
          <p:nvPr/>
        </p:nvSpPr>
        <p:spPr>
          <a:xfrm>
            <a:off x="5532120" y="5532120"/>
            <a:ext cx="5943600" cy="594360"/>
          </a:xfrm>
          <a:prstGeom prst="rect">
            <a:avLst/>
          </a:prstGeom>
          <a:noFill/>
        </p:spPr>
        <p:txBody>
          <a:bodyPr wrap="none" lIns="0" tIns="0" rIns="0" bIns="0">
            <a:spAutoFit/>
          </a:bodyPr>
          <a:lstStyle/>
          <a:p>
            <a:pPr>
              <a:defRPr sz="1300" b="1">
                <a:solidFill>
                  <a:srgbClr val="241C1C"/>
                </a:solidFill>
                <a:latin typeface="Inter"/>
              </a:defRPr>
            </a:pPr>
            <a:r>
              <a:t>FINAL OUTCOME / RESULTS</a:t>
            </a:r>
          </a:p>
          <a:p>
            <a:pPr>
              <a:defRPr sz="1000">
                <a:solidFill>
                  <a:srgbClr val="736964"/>
                </a:solidFill>
                <a:latin typeface="Inter"/>
              </a:defRPr>
            </a:pPr>
            <a:r>
              <a:t>Empirical benchmark matrix, profit capture, transit efficiency &amp; viva takeaways</a:t>
            </a:r>
          </a:p>
        </p:txBody>
      </p:sp>
      <p:pic>
        <p:nvPicPr>
          <p:cNvPr id="16" name="Picture 15" descr="gradient_slim_pill.png"/>
          <p:cNvPicPr>
            <a:picLocks noChangeAspect="1"/>
          </p:cNvPicPr>
          <p:nvPr/>
        </p:nvPicPr>
        <p:blipFill>
          <a:blip r:embed="rId3"/>
          <a:stretch>
            <a:fillRect/>
          </a:stretch>
        </p:blipFill>
        <p:spPr>
          <a:xfrm>
            <a:off x="11612880" y="685800"/>
            <a:ext cx="164592" cy="54864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731520"/>
            <a:ext cx="256032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01 • INTRODUCTION</a:t>
            </a:r>
          </a:p>
        </p:txBody>
      </p:sp>
      <p:sp>
        <p:nvSpPr>
          <p:cNvPr id="3" name="TextBox 2"/>
          <p:cNvSpPr txBox="1"/>
          <p:nvPr/>
        </p:nvSpPr>
        <p:spPr>
          <a:xfrm>
            <a:off x="731520" y="1280160"/>
            <a:ext cx="5669280" cy="1371600"/>
          </a:xfrm>
          <a:prstGeom prst="rect">
            <a:avLst/>
          </a:prstGeom>
          <a:noFill/>
        </p:spPr>
        <p:txBody>
          <a:bodyPr wrap="square" lIns="0" tIns="0" rIns="0" bIns="0">
            <a:spAutoFit/>
          </a:bodyPr>
          <a:lstStyle/>
          <a:p>
            <a:pPr>
              <a:defRPr sz="4400" b="1">
                <a:solidFill>
                  <a:srgbClr val="241C1C"/>
                </a:solidFill>
                <a:latin typeface="The Seasons"/>
              </a:defRPr>
            </a:pPr>
            <a:r>
              <a:t>WHAT IS</a:t>
            </a:r>
            <a:br/>
            <a:r>
              <a:t>SMARTROUTE?</a:t>
            </a:r>
          </a:p>
        </p:txBody>
      </p:sp>
      <p:sp>
        <p:nvSpPr>
          <p:cNvPr id="4" name="TextBox 3"/>
          <p:cNvSpPr txBox="1"/>
          <p:nvPr/>
        </p:nvSpPr>
        <p:spPr>
          <a:xfrm>
            <a:off x="731520" y="2926080"/>
            <a:ext cx="5852160" cy="1097280"/>
          </a:xfrm>
          <a:prstGeom prst="rect">
            <a:avLst/>
          </a:prstGeom>
          <a:noFill/>
        </p:spPr>
        <p:txBody>
          <a:bodyPr wrap="square">
            <a:spAutoFit/>
          </a:bodyPr>
          <a:lstStyle/>
          <a:p>
            <a:pPr>
              <a:defRPr sz="1300" b="1">
                <a:solidFill>
                  <a:srgbClr val="241C1C"/>
                </a:solidFill>
                <a:latin typeface="Inter"/>
              </a:defRPr>
            </a:pPr>
            <a:r>
              <a:t>BRIDGING CLASSICAL DATA STRUCTURES WITH REAL-WORLD LOGISTICS OPTIMIZATION ACROSS HYDERABAD'S URBAN CORRIDORS.</a:t>
            </a:r>
          </a:p>
        </p:txBody>
      </p:sp>
      <p:sp>
        <p:nvSpPr>
          <p:cNvPr id="5" name="TextBox 4"/>
          <p:cNvSpPr txBox="1"/>
          <p:nvPr/>
        </p:nvSpPr>
        <p:spPr>
          <a:xfrm>
            <a:off x="731520" y="4114800"/>
            <a:ext cx="5852160" cy="2011680"/>
          </a:xfrm>
          <a:prstGeom prst="rect">
            <a:avLst/>
          </a:prstGeom>
          <a:noFill/>
        </p:spPr>
        <p:txBody>
          <a:bodyPr wrap="square">
            <a:spAutoFit/>
          </a:bodyPr>
          <a:lstStyle/>
          <a:p>
            <a:pPr>
              <a:defRPr sz="1100">
                <a:solidFill>
                  <a:srgbClr val="241C1C"/>
                </a:solidFill>
                <a:latin typeface="Inter"/>
              </a:defRPr>
            </a:pPr>
            <a:r>
              <a:t>In modern e-commerce delivery networks, last-mile logistics accounts for over 53% of overall supply-chain expenditures. SmartRoute models this high-stakes domain through four rigorous DAA paradigms studied in our coursework:</a:t>
            </a:r>
            <a:br/>
            <a:br/>
            <a:r>
              <a:t>• Discrete Knapsack Optimization: Maximizing payload revenue under strict vehicle payload boundaries.</a:t>
            </a:r>
            <a:br/>
            <a:r>
              <a:t>• Heuristic Greedy Scheduling: Evaluating rapid priority approximations versus optimal formulations.</a:t>
            </a:r>
            <a:br/>
            <a:r>
              <a:t>• Single-Source Shortest Paths: Comparing Dijkstra's Min-Heap graph navigation with Bellman-Ford's dynamic edge relaxation and congestion arbitrage.</a:t>
            </a:r>
          </a:p>
        </p:txBody>
      </p:sp>
      <p:pic>
        <p:nvPicPr>
          <p:cNvPr id="6" name="Picture 5" descr="gradient_vertical_coral.png"/>
          <p:cNvPicPr>
            <a:picLocks noChangeAspect="1"/>
          </p:cNvPicPr>
          <p:nvPr/>
        </p:nvPicPr>
        <p:blipFill>
          <a:blip r:embed="rId2"/>
          <a:stretch>
            <a:fillRect/>
          </a:stretch>
        </p:blipFill>
        <p:spPr>
          <a:xfrm>
            <a:off x="7040880" y="685800"/>
            <a:ext cx="4389120"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548640"/>
            <a:ext cx="256032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01 • INTRODUCTION</a:t>
            </a:r>
          </a:p>
        </p:txBody>
      </p:sp>
      <p:sp>
        <p:nvSpPr>
          <p:cNvPr id="3" name="TextBox 2"/>
          <p:cNvSpPr txBox="1"/>
          <p:nvPr/>
        </p:nvSpPr>
        <p:spPr>
          <a:xfrm>
            <a:off x="731520" y="960120"/>
            <a:ext cx="5029200" cy="640080"/>
          </a:xfrm>
          <a:prstGeom prst="rect">
            <a:avLst/>
          </a:prstGeom>
          <a:noFill/>
        </p:spPr>
        <p:txBody>
          <a:bodyPr wrap="square" lIns="0" tIns="0" rIns="0" bIns="0">
            <a:spAutoFit/>
          </a:bodyPr>
          <a:lstStyle/>
          <a:p>
            <a:pPr>
              <a:defRPr sz="3200" b="1">
                <a:solidFill>
                  <a:srgbClr val="241C1C"/>
                </a:solidFill>
                <a:latin typeface="The Seasons"/>
              </a:defRPr>
            </a:pPr>
            <a:r>
              <a:t>THE FOUR DAA PILLARS</a:t>
            </a:r>
          </a:p>
        </p:txBody>
      </p:sp>
      <p:sp>
        <p:nvSpPr>
          <p:cNvPr id="4" name="TextBox 3"/>
          <p:cNvSpPr txBox="1"/>
          <p:nvPr/>
        </p:nvSpPr>
        <p:spPr>
          <a:xfrm>
            <a:off x="5669280" y="960120"/>
            <a:ext cx="5760720" cy="640080"/>
          </a:xfrm>
          <a:prstGeom prst="rect">
            <a:avLst/>
          </a:prstGeom>
          <a:noFill/>
        </p:spPr>
        <p:txBody>
          <a:bodyPr wrap="square">
            <a:spAutoFit/>
          </a:bodyPr>
          <a:lstStyle/>
          <a:p>
            <a:pPr>
              <a:defRPr sz="1100" b="1">
                <a:solidFill>
                  <a:srgbClr val="241C1C"/>
                </a:solidFill>
                <a:latin typeface="Inter"/>
              </a:defRPr>
            </a:pPr>
            <a:r>
              <a:t>A SYSTEMATIC COMPARISON OF DYNAMIC PROGRAMMING, GREEDY CHOICE, AND SHORTEST-PATH GRAPH ALGORITHMS IN LAST-MILE LOGISTICS.</a:t>
            </a:r>
          </a:p>
        </p:txBody>
      </p:sp>
      <p:pic>
        <p:nvPicPr>
          <p:cNvPr id="5" name="Picture 4" descr="gradient_horizontal_banner.png"/>
          <p:cNvPicPr>
            <a:picLocks noChangeAspect="1"/>
          </p:cNvPicPr>
          <p:nvPr/>
        </p:nvPicPr>
        <p:blipFill>
          <a:blip r:embed="rId2"/>
          <a:stretch>
            <a:fillRect/>
          </a:stretch>
        </p:blipFill>
        <p:spPr>
          <a:xfrm>
            <a:off x="731520" y="1691640"/>
            <a:ext cx="10728655" cy="2377440"/>
          </a:xfrm>
          <a:prstGeom prst="rect">
            <a:avLst/>
          </a:prstGeom>
        </p:spPr>
      </p:pic>
      <p:sp>
        <p:nvSpPr>
          <p:cNvPr id="6" name="Rounded Rectangle 5"/>
          <p:cNvSpPr/>
          <p:nvPr/>
        </p:nvSpPr>
        <p:spPr>
          <a:xfrm>
            <a:off x="914400" y="1874519"/>
            <a:ext cx="2468880" cy="201168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64592"/>
          <a:lstStyle/>
          <a:p>
            <a:pPr algn="ctr">
              <a:defRPr sz="1100" b="1">
                <a:solidFill>
                  <a:srgbClr val="241C1C"/>
                </a:solidFill>
                <a:latin typeface="Inter"/>
              </a:defRPr>
            </a:pPr>
            <a:r>
              <a:t>01. KNAPSACK (DP)</a:t>
            </a:r>
          </a:p>
          <a:p>
            <a:pPr>
              <a:defRPr sz="850" b="1">
                <a:solidFill>
                  <a:srgbClr val="E85923"/>
                </a:solidFill>
                <a:latin typeface="Inter"/>
              </a:defRPr>
            </a:pPr>
            <a:r>
              <a:t>BELLMAN 2D MEMOIZATION</a:t>
            </a:r>
          </a:p>
          <a:p>
            <a:pPr>
              <a:defRPr sz="950">
                <a:solidFill>
                  <a:srgbClr val="241C1C"/>
                </a:solidFill>
                <a:latin typeface="Inter"/>
              </a:defRPr>
            </a:pPr>
            <a:r>
              <a:t>Guarantees mathematically optimal order selection within payload limit W in O(n · W) pseudo-polynomial time.</a:t>
            </a:r>
          </a:p>
        </p:txBody>
      </p:sp>
      <p:sp>
        <p:nvSpPr>
          <p:cNvPr id="7" name="Rounded Rectangle 6"/>
          <p:cNvSpPr/>
          <p:nvPr/>
        </p:nvSpPr>
        <p:spPr>
          <a:xfrm>
            <a:off x="3602736" y="1874519"/>
            <a:ext cx="2468880" cy="201168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64592"/>
          <a:lstStyle/>
          <a:p>
            <a:pPr algn="ctr">
              <a:defRPr sz="1100" b="1">
                <a:solidFill>
                  <a:srgbClr val="241C1C"/>
                </a:solidFill>
                <a:latin typeface="Inter"/>
              </a:defRPr>
            </a:pPr>
            <a:r>
              <a:t>02. GREEDY HEURISTICS</a:t>
            </a:r>
          </a:p>
          <a:p>
            <a:pPr>
              <a:defRPr sz="850" b="1">
                <a:solidFill>
                  <a:srgbClr val="E85923"/>
                </a:solidFill>
                <a:latin typeface="Inter"/>
              </a:defRPr>
            </a:pPr>
            <a:r>
              <a:t>LOCAL CHOICE SORTING</a:t>
            </a:r>
          </a:p>
          <a:p>
            <a:pPr>
              <a:defRPr sz="950">
                <a:solidFill>
                  <a:srgbClr val="241C1C"/>
                </a:solidFill>
                <a:latin typeface="Inter"/>
              </a:defRPr>
            </a:pPr>
            <a:r>
              <a:t>Ultra-fast O(n log n) parcel scheduling by Profit Density (₹/kg), Earliest Deadline, and Highest Absolute Value.</a:t>
            </a:r>
          </a:p>
        </p:txBody>
      </p:sp>
      <p:sp>
        <p:nvSpPr>
          <p:cNvPr id="8" name="Rounded Rectangle 7"/>
          <p:cNvSpPr/>
          <p:nvPr/>
        </p:nvSpPr>
        <p:spPr>
          <a:xfrm>
            <a:off x="6291072" y="1874519"/>
            <a:ext cx="2468880" cy="201168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64592"/>
          <a:lstStyle/>
          <a:p>
            <a:pPr algn="ctr">
              <a:defRPr sz="1100" b="1">
                <a:solidFill>
                  <a:srgbClr val="241C1C"/>
                </a:solidFill>
                <a:latin typeface="Inter"/>
              </a:defRPr>
            </a:pPr>
            <a:r>
              <a:t>03. DIJKSTRA'S SSSP</a:t>
            </a:r>
          </a:p>
          <a:p>
            <a:pPr>
              <a:defRPr sz="850" b="1">
                <a:solidFill>
                  <a:srgbClr val="E85923"/>
                </a:solidFill>
                <a:latin typeface="Inter"/>
              </a:defRPr>
            </a:pPr>
            <a:r>
              <a:t>MIN-HEAP PRIORITY QUEUE</a:t>
            </a:r>
          </a:p>
          <a:p>
            <a:pPr>
              <a:defRPr sz="950">
                <a:solidFill>
                  <a:srgbClr val="241C1C"/>
                </a:solidFill>
                <a:latin typeface="Inter"/>
              </a:defRPr>
            </a:pPr>
            <a:r>
              <a:t>Rapid greedy edge traversal across Hyderabad's road network in O((V + E) log V) for non-negative road distances.</a:t>
            </a:r>
          </a:p>
        </p:txBody>
      </p:sp>
      <p:sp>
        <p:nvSpPr>
          <p:cNvPr id="9" name="Rounded Rectangle 8"/>
          <p:cNvSpPr/>
          <p:nvPr/>
        </p:nvSpPr>
        <p:spPr>
          <a:xfrm>
            <a:off x="8979408" y="1874519"/>
            <a:ext cx="2468880" cy="201168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64592"/>
          <a:lstStyle/>
          <a:p>
            <a:pPr algn="ctr">
              <a:defRPr sz="1100" b="1">
                <a:solidFill>
                  <a:srgbClr val="241C1C"/>
                </a:solidFill>
                <a:latin typeface="Inter"/>
              </a:defRPr>
            </a:pPr>
            <a:r>
              <a:t>04. BELLMAN-FORD</a:t>
            </a:r>
          </a:p>
          <a:p>
            <a:pPr>
              <a:defRPr sz="850" b="1">
                <a:solidFill>
                  <a:srgbClr val="E85923"/>
                </a:solidFill>
                <a:latin typeface="Inter"/>
              </a:defRPr>
            </a:pPr>
            <a:r>
              <a:t>DP EDGE RELAXATION</a:t>
            </a:r>
          </a:p>
          <a:p>
            <a:pPr>
              <a:defRPr sz="950">
                <a:solidFill>
                  <a:srgbClr val="241C1C"/>
                </a:solidFill>
                <a:latin typeface="Inter"/>
              </a:defRPr>
            </a:pPr>
            <a:r>
              <a:t>Robust path optimization in O(V · E); detects negative penalty cycles, congestion toll rebates, and deadlock loops.</a:t>
            </a:r>
          </a:p>
        </p:txBody>
      </p:sp>
      <p:sp>
        <p:nvSpPr>
          <p:cNvPr id="10" name="TextBox 9"/>
          <p:cNvSpPr txBox="1"/>
          <p:nvPr/>
        </p:nvSpPr>
        <p:spPr>
          <a:xfrm>
            <a:off x="731520" y="4297680"/>
            <a:ext cx="5029200" cy="548640"/>
          </a:xfrm>
          <a:prstGeom prst="rect">
            <a:avLst/>
          </a:prstGeom>
          <a:noFill/>
        </p:spPr>
        <p:txBody>
          <a:bodyPr wrap="none">
            <a:spAutoFit/>
          </a:bodyPr>
          <a:lstStyle/>
          <a:p>
            <a:pPr>
              <a:defRPr sz="2200" b="1">
                <a:solidFill>
                  <a:srgbClr val="241C1C"/>
                </a:solidFill>
                <a:latin typeface="The Seasons"/>
              </a:defRPr>
            </a:pPr>
            <a:r>
              <a:t>RESEARCH METHODOLOGY</a:t>
            </a:r>
          </a:p>
        </p:txBody>
      </p:sp>
      <p:sp>
        <p:nvSpPr>
          <p:cNvPr id="11" name="TextBox 10"/>
          <p:cNvSpPr txBox="1"/>
          <p:nvPr/>
        </p:nvSpPr>
        <p:spPr>
          <a:xfrm>
            <a:off x="5669280" y="4297680"/>
            <a:ext cx="5760720" cy="2011680"/>
          </a:xfrm>
          <a:prstGeom prst="rect">
            <a:avLst/>
          </a:prstGeom>
          <a:noFill/>
        </p:spPr>
        <p:txBody>
          <a:bodyPr wrap="square">
            <a:spAutoFit/>
          </a:bodyPr>
          <a:lstStyle/>
          <a:p>
            <a:pPr>
              <a:defRPr sz="1100">
                <a:solidFill>
                  <a:srgbClr val="241C1C"/>
                </a:solidFill>
                <a:latin typeface="Inter"/>
              </a:defRPr>
            </a:pPr>
            <a:r>
              <a:t>Rather than viewing these algorithms as disjoint theoretical concepts, SmartRoute establishes a direct comparative testbed. We evaluate their mathematical correctness, empirical runtime latency, memory footprints, and practical dispatch efficacy across 35+ customer locations throughout Hyderabad.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pic>
        <p:nvPicPr>
          <p:cNvPr id="2" name="Picture 1" descr="gradient_vertical_lime.png"/>
          <p:cNvPicPr>
            <a:picLocks noChangeAspect="1"/>
          </p:cNvPicPr>
          <p:nvPr/>
        </p:nvPicPr>
        <p:blipFill>
          <a:blip r:embed="rId2"/>
          <a:stretch>
            <a:fillRect/>
          </a:stretch>
        </p:blipFill>
        <p:spPr>
          <a:xfrm>
            <a:off x="731520" y="685800"/>
            <a:ext cx="3840480" cy="5486400"/>
          </a:xfrm>
          <a:prstGeom prst="rect">
            <a:avLst/>
          </a:prstGeom>
        </p:spPr>
      </p:pic>
      <p:sp>
        <p:nvSpPr>
          <p:cNvPr id="3" name="Rounded Rectangle 2"/>
          <p:cNvSpPr/>
          <p:nvPr/>
        </p:nvSpPr>
        <p:spPr>
          <a:xfrm>
            <a:off x="5029200" y="685800"/>
            <a:ext cx="292608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02 • PROBLEM STATEMENT</a:t>
            </a:r>
          </a:p>
        </p:txBody>
      </p:sp>
      <p:sp>
        <p:nvSpPr>
          <p:cNvPr id="4" name="TextBox 3"/>
          <p:cNvSpPr txBox="1"/>
          <p:nvPr/>
        </p:nvSpPr>
        <p:spPr>
          <a:xfrm>
            <a:off x="5029200" y="1234440"/>
            <a:ext cx="6400800" cy="1280160"/>
          </a:xfrm>
          <a:prstGeom prst="rect">
            <a:avLst/>
          </a:prstGeom>
          <a:noFill/>
        </p:spPr>
        <p:txBody>
          <a:bodyPr wrap="square" lIns="0" tIns="0" rIns="0" bIns="0">
            <a:spAutoFit/>
          </a:bodyPr>
          <a:lstStyle/>
          <a:p>
            <a:pPr>
              <a:defRPr sz="3600" b="1">
                <a:solidFill>
                  <a:srgbClr val="241C1C"/>
                </a:solidFill>
                <a:latin typeface="The Seasons"/>
              </a:defRPr>
            </a:pPr>
            <a:r>
              <a:t>THE DUAL BOTTLENECK IN</a:t>
            </a:r>
            <a:br/>
            <a:r>
              <a:t>URBAN LAST-MILE LOGISTICS</a:t>
            </a:r>
          </a:p>
        </p:txBody>
      </p:sp>
      <p:sp>
        <p:nvSpPr>
          <p:cNvPr id="5" name="TextBox 4"/>
          <p:cNvSpPr txBox="1"/>
          <p:nvPr/>
        </p:nvSpPr>
        <p:spPr>
          <a:xfrm>
            <a:off x="5029200" y="2651760"/>
            <a:ext cx="6400800" cy="3657600"/>
          </a:xfrm>
          <a:prstGeom prst="rect">
            <a:avLst/>
          </a:prstGeom>
          <a:noFill/>
        </p:spPr>
        <p:txBody>
          <a:bodyPr wrap="square">
            <a:spAutoFit/>
          </a:bodyPr>
          <a:lstStyle/>
          <a:p>
            <a:pPr>
              <a:defRPr sz="1200" b="1">
                <a:solidFill>
                  <a:srgbClr val="241C1C"/>
                </a:solidFill>
                <a:latin typeface="Inter"/>
              </a:defRPr>
            </a:pPr>
            <a:r>
              <a:t>LAST-MILE COURIERS FACE TWO INTERCONNECTED COMPUTATIONAL BOTTLENECKS THAT CANNOT BE SOLVED BY INTUITION:</a:t>
            </a:r>
          </a:p>
          <a:p>
            <a:pPr>
              <a:defRPr sz="1100" b="1">
                <a:solidFill>
                  <a:srgbClr val="E85923"/>
                </a:solidFill>
                <a:latin typeface="Inter"/>
              </a:defRPr>
            </a:pPr>
            <a:r>
              <a:t>1. The Order Selection Bottleneck (Knapsack Dilemma):</a:t>
            </a:r>
          </a:p>
          <a:p>
            <a:pPr>
              <a:defRPr sz="1000">
                <a:solidFill>
                  <a:srgbClr val="241C1C"/>
                </a:solidFill>
                <a:latin typeface="Inter"/>
              </a:defRPr>
            </a:pPr>
            <a:r>
              <a:t>With 35+ pending parcel requests across Hyderabad and limited vehicle cargo capacity (e.g. 100 kg), testing all 2^35 (34.3 billion) parcel combinations by brute force is computationally infeasible. Naive greedy sorting frequently leaves empty vehicle payload voids, resulting in severe revenue loss.</a:t>
            </a:r>
          </a:p>
          <a:p>
            <a:pPr>
              <a:defRPr sz="1100" b="1">
                <a:solidFill>
                  <a:srgbClr val="E85923"/>
                </a:solidFill>
                <a:latin typeface="Inter"/>
              </a:defRPr>
            </a:pPr>
            <a:r>
              <a:t>2. The Network Routing Bottleneck (Spatial Path Dilemma):</a:t>
            </a:r>
          </a:p>
          <a:p>
            <a:pPr>
              <a:defRPr sz="1000">
                <a:solidFill>
                  <a:srgbClr val="241C1C"/>
                </a:solidFill>
                <a:latin typeface="Inter"/>
              </a:defRPr>
            </a:pPr>
            <a:r>
              <a:t>Once orders are chosen, dispatchers must find the optimal transit path from the Begumpet Central Hub through dense traffic corridors (HITEC City, Gachibowli, Secunderabad, Woxsen University). Suboptimal delivery sequences cause exponential fuel waste and SLA penalties.</a:t>
            </a:r>
          </a:p>
          <a:p>
            <a:pPr>
              <a:defRPr sz="1100" b="1">
                <a:solidFill>
                  <a:srgbClr val="E85923"/>
                </a:solidFill>
                <a:latin typeface="Inter"/>
              </a:defRPr>
            </a:pPr>
            <a:r>
              <a:t>3. The Real-Time Constraint:</a:t>
            </a:r>
          </a:p>
          <a:p>
            <a:pPr>
              <a:defRPr sz="1000">
                <a:solidFill>
                  <a:srgbClr val="241C1C"/>
                </a:solidFill>
                <a:latin typeface="Inter"/>
              </a:defRPr>
            </a:pPr>
            <a:r>
              <a:t>The system must execute both selection and routing algorithms in under 50 milliseconds to support dynamic driver dispatch and continuous delivery requests.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548640"/>
            <a:ext cx="292608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02 • PROBLEM STATEMENT</a:t>
            </a:r>
          </a:p>
        </p:txBody>
      </p:sp>
      <p:sp>
        <p:nvSpPr>
          <p:cNvPr id="3" name="TextBox 2"/>
          <p:cNvSpPr txBox="1"/>
          <p:nvPr/>
        </p:nvSpPr>
        <p:spPr>
          <a:xfrm>
            <a:off x="731520" y="1005840"/>
            <a:ext cx="10698480" cy="640080"/>
          </a:xfrm>
          <a:prstGeom prst="rect">
            <a:avLst/>
          </a:prstGeom>
          <a:noFill/>
        </p:spPr>
        <p:txBody>
          <a:bodyPr wrap="square" lIns="0" tIns="0" rIns="0" bIns="0">
            <a:spAutoFit/>
          </a:bodyPr>
          <a:lstStyle/>
          <a:p>
            <a:pPr>
              <a:defRPr sz="3200" b="1">
                <a:solidFill>
                  <a:srgbClr val="241C1C"/>
                </a:solidFill>
                <a:latin typeface="The Seasons"/>
              </a:defRPr>
            </a:pPr>
            <a:r>
              <a:t>THE ALGORITHMIC TRADE-OFF TRILEMMA</a:t>
            </a:r>
          </a:p>
        </p:txBody>
      </p:sp>
      <p:pic>
        <p:nvPicPr>
          <p:cNvPr id="4" name="Picture 3" descr="gradient_square_1.png"/>
          <p:cNvPicPr>
            <a:picLocks noChangeAspect="1"/>
          </p:cNvPicPr>
          <p:nvPr/>
        </p:nvPicPr>
        <p:blipFill>
          <a:blip r:embed="rId2"/>
          <a:stretch>
            <a:fillRect/>
          </a:stretch>
        </p:blipFill>
        <p:spPr>
          <a:xfrm>
            <a:off x="731520" y="1737360"/>
            <a:ext cx="3328416" cy="2926080"/>
          </a:xfrm>
          <a:prstGeom prst="rect">
            <a:avLst/>
          </a:prstGeom>
        </p:spPr>
      </p:pic>
      <p:sp>
        <p:nvSpPr>
          <p:cNvPr id="5" name="TextBox 4"/>
          <p:cNvSpPr txBox="1"/>
          <p:nvPr/>
        </p:nvSpPr>
        <p:spPr>
          <a:xfrm>
            <a:off x="731520" y="4800600"/>
            <a:ext cx="3328416" cy="365760"/>
          </a:xfrm>
          <a:prstGeom prst="rect">
            <a:avLst/>
          </a:prstGeom>
          <a:noFill/>
        </p:spPr>
        <p:txBody>
          <a:bodyPr wrap="none">
            <a:spAutoFit/>
          </a:bodyPr>
          <a:lstStyle/>
          <a:p>
            <a:pPr algn="ctr">
              <a:defRPr sz="1700" b="1">
                <a:solidFill>
                  <a:srgbClr val="241C1C"/>
                </a:solidFill>
                <a:latin typeface="The Seasons"/>
              </a:defRPr>
            </a:pPr>
            <a:r>
              <a:t>CAPACITY PACKING</a:t>
            </a:r>
          </a:p>
        </p:txBody>
      </p:sp>
      <p:sp>
        <p:nvSpPr>
          <p:cNvPr id="6" name="Rounded Rectangle 5"/>
          <p:cNvSpPr/>
          <p:nvPr/>
        </p:nvSpPr>
        <p:spPr>
          <a:xfrm>
            <a:off x="1051560" y="5212080"/>
            <a:ext cx="2688336" cy="292608"/>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850" b="1">
                <a:solidFill>
                  <a:srgbClr val="FFFFFF"/>
                </a:solidFill>
                <a:latin typeface="Inter"/>
              </a:defRPr>
            </a:pPr>
            <a:r>
              <a:t>0/1 KNAPSACK PROBLEM</a:t>
            </a:r>
          </a:p>
        </p:txBody>
      </p:sp>
      <p:sp>
        <p:nvSpPr>
          <p:cNvPr id="7" name="TextBox 6"/>
          <p:cNvSpPr txBox="1"/>
          <p:nvPr/>
        </p:nvSpPr>
        <p:spPr>
          <a:xfrm>
            <a:off x="731520" y="5577840"/>
            <a:ext cx="3328416" cy="1005840"/>
          </a:xfrm>
          <a:prstGeom prst="rect">
            <a:avLst/>
          </a:prstGeom>
          <a:noFill/>
        </p:spPr>
        <p:txBody>
          <a:bodyPr wrap="square">
            <a:spAutoFit/>
          </a:bodyPr>
          <a:lstStyle/>
          <a:p>
            <a:pPr algn="ctr">
              <a:defRPr sz="850">
                <a:solidFill>
                  <a:srgbClr val="736964"/>
                </a:solidFill>
                <a:latin typeface="Inter"/>
              </a:defRPr>
            </a:pPr>
            <a:r>
              <a:t>DISCRETE CHOICES CANNOT BE FRACTIONALIZED. GREEDY CHOICE PROPERTY FAILS TO GUARANTEE OPTIMALITY WHEN ITEM WEIGHTS CREATE PACKING VOIDS. REQUIRES 2D DP.</a:t>
            </a:r>
          </a:p>
        </p:txBody>
      </p:sp>
      <p:pic>
        <p:nvPicPr>
          <p:cNvPr id="8" name="Picture 7" descr="gradient_square_2.png"/>
          <p:cNvPicPr>
            <a:picLocks noChangeAspect="1"/>
          </p:cNvPicPr>
          <p:nvPr/>
        </p:nvPicPr>
        <p:blipFill>
          <a:blip r:embed="rId3"/>
          <a:stretch>
            <a:fillRect/>
          </a:stretch>
        </p:blipFill>
        <p:spPr>
          <a:xfrm>
            <a:off x="4425696" y="1737360"/>
            <a:ext cx="3328416" cy="2926080"/>
          </a:xfrm>
          <a:prstGeom prst="rect">
            <a:avLst/>
          </a:prstGeom>
        </p:spPr>
      </p:pic>
      <p:sp>
        <p:nvSpPr>
          <p:cNvPr id="9" name="TextBox 8"/>
          <p:cNvSpPr txBox="1"/>
          <p:nvPr/>
        </p:nvSpPr>
        <p:spPr>
          <a:xfrm>
            <a:off x="4425696" y="4800600"/>
            <a:ext cx="3328416" cy="365760"/>
          </a:xfrm>
          <a:prstGeom prst="rect">
            <a:avLst/>
          </a:prstGeom>
          <a:noFill/>
        </p:spPr>
        <p:txBody>
          <a:bodyPr wrap="none">
            <a:spAutoFit/>
          </a:bodyPr>
          <a:lstStyle/>
          <a:p>
            <a:pPr algn="ctr">
              <a:defRPr sz="1700" b="1">
                <a:solidFill>
                  <a:srgbClr val="241C1C"/>
                </a:solidFill>
                <a:latin typeface="The Seasons"/>
              </a:defRPr>
            </a:pPr>
            <a:r>
              <a:t>DISPATCH HEURISTICS</a:t>
            </a:r>
          </a:p>
        </p:txBody>
      </p:sp>
      <p:sp>
        <p:nvSpPr>
          <p:cNvPr id="10" name="Rounded Rectangle 9"/>
          <p:cNvSpPr/>
          <p:nvPr/>
        </p:nvSpPr>
        <p:spPr>
          <a:xfrm>
            <a:off x="4745736" y="5212080"/>
            <a:ext cx="2688336" cy="292608"/>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850" b="1">
                <a:solidFill>
                  <a:srgbClr val="FFFFFF"/>
                </a:solidFill>
                <a:latin typeface="Inter"/>
              </a:defRPr>
            </a:pPr>
            <a:r>
              <a:t>GREEDY APPROXIMATION TRAPS</a:t>
            </a:r>
          </a:p>
        </p:txBody>
      </p:sp>
      <p:sp>
        <p:nvSpPr>
          <p:cNvPr id="11" name="TextBox 10"/>
          <p:cNvSpPr txBox="1"/>
          <p:nvPr/>
        </p:nvSpPr>
        <p:spPr>
          <a:xfrm>
            <a:off x="4425696" y="5577840"/>
            <a:ext cx="3328416" cy="1005840"/>
          </a:xfrm>
          <a:prstGeom prst="rect">
            <a:avLst/>
          </a:prstGeom>
          <a:noFill/>
        </p:spPr>
        <p:txBody>
          <a:bodyPr wrap="square">
            <a:spAutoFit/>
          </a:bodyPr>
          <a:lstStyle/>
          <a:p>
            <a:pPr algn="ctr">
              <a:defRPr sz="850">
                <a:solidFill>
                  <a:srgbClr val="736964"/>
                </a:solidFill>
                <a:latin typeface="Inter"/>
              </a:defRPr>
            </a:pPr>
            <a:r>
              <a:t>SORTING BY PROFIT DENSITY (₹/KG) RUNS FAST IN O(N LOG N), BUT FREQUENTLY COMMITS TO SUBOPTIMAL HIGH-RATIO LIGHTWEIGHT ITEMS THAT SQUANDER TOTAL VALUE.</a:t>
            </a:r>
          </a:p>
        </p:txBody>
      </p:sp>
      <p:pic>
        <p:nvPicPr>
          <p:cNvPr id="12" name="Picture 11" descr="gradient_square_3.png"/>
          <p:cNvPicPr>
            <a:picLocks noChangeAspect="1"/>
          </p:cNvPicPr>
          <p:nvPr/>
        </p:nvPicPr>
        <p:blipFill>
          <a:blip r:embed="rId4"/>
          <a:stretch>
            <a:fillRect/>
          </a:stretch>
        </p:blipFill>
        <p:spPr>
          <a:xfrm>
            <a:off x="8119872" y="1737360"/>
            <a:ext cx="3328416" cy="2926080"/>
          </a:xfrm>
          <a:prstGeom prst="rect">
            <a:avLst/>
          </a:prstGeom>
        </p:spPr>
      </p:pic>
      <p:sp>
        <p:nvSpPr>
          <p:cNvPr id="13" name="TextBox 12"/>
          <p:cNvSpPr txBox="1"/>
          <p:nvPr/>
        </p:nvSpPr>
        <p:spPr>
          <a:xfrm>
            <a:off x="8119872" y="4800600"/>
            <a:ext cx="3328416" cy="365760"/>
          </a:xfrm>
          <a:prstGeom prst="rect">
            <a:avLst/>
          </a:prstGeom>
          <a:noFill/>
        </p:spPr>
        <p:txBody>
          <a:bodyPr wrap="none">
            <a:spAutoFit/>
          </a:bodyPr>
          <a:lstStyle/>
          <a:p>
            <a:pPr algn="ctr">
              <a:defRPr sz="1700" b="1">
                <a:solidFill>
                  <a:srgbClr val="241C1C"/>
                </a:solidFill>
                <a:latin typeface="The Seasons"/>
              </a:defRPr>
            </a:pPr>
            <a:r>
              <a:t>SPATIAL ROUTING</a:t>
            </a:r>
          </a:p>
        </p:txBody>
      </p:sp>
      <p:sp>
        <p:nvSpPr>
          <p:cNvPr id="14" name="Rounded Rectangle 13"/>
          <p:cNvSpPr/>
          <p:nvPr/>
        </p:nvSpPr>
        <p:spPr>
          <a:xfrm>
            <a:off x="8439912" y="5212080"/>
            <a:ext cx="2688336" cy="292608"/>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850" b="1">
                <a:solidFill>
                  <a:srgbClr val="FFFFFF"/>
                </a:solidFill>
                <a:latin typeface="Inter"/>
              </a:defRPr>
            </a:pPr>
            <a:r>
              <a:t>DIJKSTRA VS BELLMAN-FORD</a:t>
            </a:r>
          </a:p>
        </p:txBody>
      </p:sp>
      <p:sp>
        <p:nvSpPr>
          <p:cNvPr id="15" name="TextBox 14"/>
          <p:cNvSpPr txBox="1"/>
          <p:nvPr/>
        </p:nvSpPr>
        <p:spPr>
          <a:xfrm>
            <a:off x="8119872" y="5577840"/>
            <a:ext cx="3328416" cy="1005840"/>
          </a:xfrm>
          <a:prstGeom prst="rect">
            <a:avLst/>
          </a:prstGeom>
          <a:noFill/>
        </p:spPr>
        <p:txBody>
          <a:bodyPr wrap="square">
            <a:spAutoFit/>
          </a:bodyPr>
          <a:lstStyle/>
          <a:p>
            <a:pPr algn="ctr">
              <a:defRPr sz="850">
                <a:solidFill>
                  <a:srgbClr val="736964"/>
                </a:solidFill>
                <a:latin typeface="Inter"/>
              </a:defRPr>
            </a:pPr>
            <a:r>
              <a:t>DIJKSTRA GREEDY MIN-HEAP FINDS FAST SHORTEST PATHS BUT FAILS ON DYNAMIC PENALTY ARBITRAGE AND CONGESTION REBATES. BELLMAN-FORD ENSURES DP CONVERGENCE.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548640"/>
            <a:ext cx="292608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03 • LITERATURE REVIEW</a:t>
            </a:r>
          </a:p>
        </p:txBody>
      </p:sp>
      <p:sp>
        <p:nvSpPr>
          <p:cNvPr id="3" name="TextBox 2"/>
          <p:cNvSpPr txBox="1"/>
          <p:nvPr/>
        </p:nvSpPr>
        <p:spPr>
          <a:xfrm>
            <a:off x="731520" y="1005840"/>
            <a:ext cx="10698480" cy="640080"/>
          </a:xfrm>
          <a:prstGeom prst="rect">
            <a:avLst/>
          </a:prstGeom>
          <a:noFill/>
        </p:spPr>
        <p:txBody>
          <a:bodyPr wrap="square" lIns="0" tIns="0" rIns="0" bIns="0">
            <a:spAutoFit/>
          </a:bodyPr>
          <a:lstStyle/>
          <a:p>
            <a:pPr>
              <a:defRPr sz="3200" b="1">
                <a:solidFill>
                  <a:srgbClr val="241C1C"/>
                </a:solidFill>
                <a:latin typeface="The Seasons"/>
              </a:defRPr>
            </a:pPr>
            <a:r>
              <a:t>THEORETICAL LITERATURE FOUNDATIONS</a:t>
            </a:r>
          </a:p>
        </p:txBody>
      </p:sp>
      <p:pic>
        <p:nvPicPr>
          <p:cNvPr id="4" name="Picture 3" descr="gradient_square_1.png"/>
          <p:cNvPicPr>
            <a:picLocks noChangeAspect="1"/>
          </p:cNvPicPr>
          <p:nvPr/>
        </p:nvPicPr>
        <p:blipFill>
          <a:blip r:embed="rId2"/>
          <a:stretch>
            <a:fillRect/>
          </a:stretch>
        </p:blipFill>
        <p:spPr>
          <a:xfrm>
            <a:off x="731520" y="1737360"/>
            <a:ext cx="3328416" cy="2926080"/>
          </a:xfrm>
          <a:prstGeom prst="rect">
            <a:avLst/>
          </a:prstGeom>
        </p:spPr>
      </p:pic>
      <p:sp>
        <p:nvSpPr>
          <p:cNvPr id="5" name="TextBox 4"/>
          <p:cNvSpPr txBox="1"/>
          <p:nvPr/>
        </p:nvSpPr>
        <p:spPr>
          <a:xfrm>
            <a:off x="731520" y="4800600"/>
            <a:ext cx="3328416" cy="365760"/>
          </a:xfrm>
          <a:prstGeom prst="rect">
            <a:avLst/>
          </a:prstGeom>
          <a:noFill/>
        </p:spPr>
        <p:txBody>
          <a:bodyPr wrap="none">
            <a:spAutoFit/>
          </a:bodyPr>
          <a:lstStyle/>
          <a:p>
            <a:pPr algn="ctr">
              <a:defRPr sz="1600" b="1">
                <a:solidFill>
                  <a:srgbClr val="241C1C"/>
                </a:solidFill>
                <a:latin typeface="The Seasons"/>
              </a:defRPr>
            </a:pPr>
            <a:r>
              <a:t>DYNAMIC PROGRAMMING</a:t>
            </a:r>
          </a:p>
        </p:txBody>
      </p:sp>
      <p:sp>
        <p:nvSpPr>
          <p:cNvPr id="6" name="Rounded Rectangle 5"/>
          <p:cNvSpPr/>
          <p:nvPr/>
        </p:nvSpPr>
        <p:spPr>
          <a:xfrm>
            <a:off x="822960" y="5212080"/>
            <a:ext cx="3145536" cy="292608"/>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800" b="1">
                <a:solidFill>
                  <a:srgbClr val="FFFFFF"/>
                </a:solidFill>
                <a:latin typeface="Inter"/>
              </a:defRPr>
            </a:pPr>
            <a:r>
              <a:t>BELLMAN (1957) • MARTELLO &amp; TOTH (1990)</a:t>
            </a:r>
          </a:p>
        </p:txBody>
      </p:sp>
      <p:sp>
        <p:nvSpPr>
          <p:cNvPr id="7" name="TextBox 6"/>
          <p:cNvSpPr txBox="1"/>
          <p:nvPr/>
        </p:nvSpPr>
        <p:spPr>
          <a:xfrm>
            <a:off x="731520" y="5577840"/>
            <a:ext cx="3328416" cy="1005840"/>
          </a:xfrm>
          <a:prstGeom prst="rect">
            <a:avLst/>
          </a:prstGeom>
          <a:noFill/>
        </p:spPr>
        <p:txBody>
          <a:bodyPr wrap="square">
            <a:spAutoFit/>
          </a:bodyPr>
          <a:lstStyle/>
          <a:p>
            <a:pPr algn="ctr">
              <a:defRPr sz="850">
                <a:solidFill>
                  <a:srgbClr val="736964"/>
                </a:solidFill>
                <a:latin typeface="Inter"/>
              </a:defRPr>
            </a:pPr>
            <a:r>
              <a:t>BELLMAN ESTABLISHED THE PRINCIPLE OF OPTIMALITY: GLOBAL OPTIMAL DECISIONS DEPEND UPON OPTIMAL SUBPROBLEMS. MARTELLO &amp; TOTH CODIFIED THE 0/1 KNAPSACK 2D MEMOIZATION RECURRENCE IN O(N · W).</a:t>
            </a:r>
          </a:p>
        </p:txBody>
      </p:sp>
      <p:pic>
        <p:nvPicPr>
          <p:cNvPr id="8" name="Picture 7" descr="gradient_square_2.png"/>
          <p:cNvPicPr>
            <a:picLocks noChangeAspect="1"/>
          </p:cNvPicPr>
          <p:nvPr/>
        </p:nvPicPr>
        <p:blipFill>
          <a:blip r:embed="rId3"/>
          <a:stretch>
            <a:fillRect/>
          </a:stretch>
        </p:blipFill>
        <p:spPr>
          <a:xfrm>
            <a:off x="4425696" y="1737360"/>
            <a:ext cx="3328416" cy="2926080"/>
          </a:xfrm>
          <a:prstGeom prst="rect">
            <a:avLst/>
          </a:prstGeom>
        </p:spPr>
      </p:pic>
      <p:sp>
        <p:nvSpPr>
          <p:cNvPr id="9" name="TextBox 8"/>
          <p:cNvSpPr txBox="1"/>
          <p:nvPr/>
        </p:nvSpPr>
        <p:spPr>
          <a:xfrm>
            <a:off x="4425696" y="4800600"/>
            <a:ext cx="3328416" cy="365760"/>
          </a:xfrm>
          <a:prstGeom prst="rect">
            <a:avLst/>
          </a:prstGeom>
          <a:noFill/>
        </p:spPr>
        <p:txBody>
          <a:bodyPr wrap="none">
            <a:spAutoFit/>
          </a:bodyPr>
          <a:lstStyle/>
          <a:p>
            <a:pPr algn="ctr">
              <a:defRPr sz="1600" b="1">
                <a:solidFill>
                  <a:srgbClr val="241C1C"/>
                </a:solidFill>
                <a:latin typeface="The Seasons"/>
              </a:defRPr>
            </a:pPr>
            <a:r>
              <a:t>GREEDY HEURISTICS</a:t>
            </a:r>
          </a:p>
        </p:txBody>
      </p:sp>
      <p:sp>
        <p:nvSpPr>
          <p:cNvPr id="10" name="Rounded Rectangle 9"/>
          <p:cNvSpPr/>
          <p:nvPr/>
        </p:nvSpPr>
        <p:spPr>
          <a:xfrm>
            <a:off x="4517136" y="5212080"/>
            <a:ext cx="3145536" cy="292608"/>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800" b="1">
                <a:solidFill>
                  <a:srgbClr val="FFFFFF"/>
                </a:solidFill>
                <a:latin typeface="Inter"/>
              </a:defRPr>
            </a:pPr>
            <a:r>
              <a:t>DANTZIG (1957) • CHVÁTAL (1979)</a:t>
            </a:r>
          </a:p>
        </p:txBody>
      </p:sp>
      <p:sp>
        <p:nvSpPr>
          <p:cNvPr id="11" name="TextBox 10"/>
          <p:cNvSpPr txBox="1"/>
          <p:nvPr/>
        </p:nvSpPr>
        <p:spPr>
          <a:xfrm>
            <a:off x="4425696" y="5577840"/>
            <a:ext cx="3328416" cy="1005840"/>
          </a:xfrm>
          <a:prstGeom prst="rect">
            <a:avLst/>
          </a:prstGeom>
          <a:noFill/>
        </p:spPr>
        <p:txBody>
          <a:bodyPr wrap="square">
            <a:spAutoFit/>
          </a:bodyPr>
          <a:lstStyle/>
          <a:p>
            <a:pPr algn="ctr">
              <a:defRPr sz="850">
                <a:solidFill>
                  <a:srgbClr val="736964"/>
                </a:solidFill>
                <a:latin typeface="Inter"/>
              </a:defRPr>
            </a:pPr>
            <a:r>
              <a:t>DANTZIG INTRODUCED THE PROFIT-TO-WEIGHT DENSITY RATIO FOR CONTINUOUS RELAXATIONS. CHVÁTAL PROVED GREEDY APPROXIMATION GAPS, CONFIRMING GREEDY IS SUBOPTIMAL FOR DISCRETE INTEGER CARGO.</a:t>
            </a:r>
          </a:p>
        </p:txBody>
      </p:sp>
      <p:pic>
        <p:nvPicPr>
          <p:cNvPr id="12" name="Picture 11" descr="gradient_square_3.png"/>
          <p:cNvPicPr>
            <a:picLocks noChangeAspect="1"/>
          </p:cNvPicPr>
          <p:nvPr/>
        </p:nvPicPr>
        <p:blipFill>
          <a:blip r:embed="rId4"/>
          <a:stretch>
            <a:fillRect/>
          </a:stretch>
        </p:blipFill>
        <p:spPr>
          <a:xfrm>
            <a:off x="8119872" y="1737360"/>
            <a:ext cx="3328416" cy="2926080"/>
          </a:xfrm>
          <a:prstGeom prst="rect">
            <a:avLst/>
          </a:prstGeom>
        </p:spPr>
      </p:pic>
      <p:sp>
        <p:nvSpPr>
          <p:cNvPr id="13" name="TextBox 12"/>
          <p:cNvSpPr txBox="1"/>
          <p:nvPr/>
        </p:nvSpPr>
        <p:spPr>
          <a:xfrm>
            <a:off x="8119872" y="4800600"/>
            <a:ext cx="3328416" cy="365760"/>
          </a:xfrm>
          <a:prstGeom prst="rect">
            <a:avLst/>
          </a:prstGeom>
          <a:noFill/>
        </p:spPr>
        <p:txBody>
          <a:bodyPr wrap="none">
            <a:spAutoFit/>
          </a:bodyPr>
          <a:lstStyle/>
          <a:p>
            <a:pPr algn="ctr">
              <a:defRPr sz="1600" b="1">
                <a:solidFill>
                  <a:srgbClr val="241C1C"/>
                </a:solidFill>
                <a:latin typeface="The Seasons"/>
              </a:defRPr>
            </a:pPr>
            <a:r>
              <a:t>SHORTEST PATH NETWORKS</a:t>
            </a:r>
          </a:p>
        </p:txBody>
      </p:sp>
      <p:sp>
        <p:nvSpPr>
          <p:cNvPr id="14" name="Rounded Rectangle 13"/>
          <p:cNvSpPr/>
          <p:nvPr/>
        </p:nvSpPr>
        <p:spPr>
          <a:xfrm>
            <a:off x="8211312" y="5212080"/>
            <a:ext cx="3145536" cy="292608"/>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800" b="1">
                <a:solidFill>
                  <a:srgbClr val="FFFFFF"/>
                </a:solidFill>
                <a:latin typeface="Inter"/>
              </a:defRPr>
            </a:pPr>
            <a:r>
              <a:t>DIJKSTRA (1959) • BELLMAN-FORD (1958)</a:t>
            </a:r>
          </a:p>
        </p:txBody>
      </p:sp>
      <p:sp>
        <p:nvSpPr>
          <p:cNvPr id="15" name="TextBox 14"/>
          <p:cNvSpPr txBox="1"/>
          <p:nvPr/>
        </p:nvSpPr>
        <p:spPr>
          <a:xfrm>
            <a:off x="8119872" y="5577840"/>
            <a:ext cx="3328416" cy="1005840"/>
          </a:xfrm>
          <a:prstGeom prst="rect">
            <a:avLst/>
          </a:prstGeom>
          <a:noFill/>
        </p:spPr>
        <p:txBody>
          <a:bodyPr wrap="square">
            <a:spAutoFit/>
          </a:bodyPr>
          <a:lstStyle/>
          <a:p>
            <a:pPr algn="ctr">
              <a:defRPr sz="850">
                <a:solidFill>
                  <a:srgbClr val="736964"/>
                </a:solidFill>
                <a:latin typeface="Inter"/>
              </a:defRPr>
            </a:pPr>
            <a:r>
              <a:t>DIJKSTRA PROVED GREEDY PRIORITY EXPANSIONS OPTIMAL IN NON-NEGATIVE ROAD NETWORKS O((V+E) LOG V). BELLMAN &amp; FORD FORMULATED ITERATIVE EDGE RELAXATIONS IN O(V · E) WITH CYCLE DETECTION.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548640"/>
            <a:ext cx="256032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04 • METHODOLOGY</a:t>
            </a:r>
          </a:p>
        </p:txBody>
      </p:sp>
      <p:sp>
        <p:nvSpPr>
          <p:cNvPr id="3" name="TextBox 2"/>
          <p:cNvSpPr txBox="1"/>
          <p:nvPr/>
        </p:nvSpPr>
        <p:spPr>
          <a:xfrm>
            <a:off x="731520" y="1005840"/>
            <a:ext cx="10698480" cy="640080"/>
          </a:xfrm>
          <a:prstGeom prst="rect">
            <a:avLst/>
          </a:prstGeom>
          <a:noFill/>
        </p:spPr>
        <p:txBody>
          <a:bodyPr wrap="square" lIns="0" tIns="0" rIns="0" bIns="0">
            <a:spAutoFit/>
          </a:bodyPr>
          <a:lstStyle/>
          <a:p>
            <a:pPr>
              <a:defRPr sz="3200" b="1">
                <a:solidFill>
                  <a:srgbClr val="241C1C"/>
                </a:solidFill>
                <a:latin typeface="The Seasons"/>
              </a:defRPr>
            </a:pPr>
            <a:r>
              <a:t>TWO-PHASE ALGORITHMIC ARCHITECTURE</a:t>
            </a:r>
          </a:p>
        </p:txBody>
      </p:sp>
      <p:sp>
        <p:nvSpPr>
          <p:cNvPr id="4" name="Rounded Rectangle 3"/>
          <p:cNvSpPr/>
          <p:nvPr/>
        </p:nvSpPr>
        <p:spPr>
          <a:xfrm>
            <a:off x="731520" y="1737360"/>
            <a:ext cx="10728655" cy="731520"/>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Inter"/>
              </a:defRPr>
            </a:pPr>
            <a:r>
              <a:t>INPUT: 35+ HYDERABAD ORDERS  ➔  PHASE 1: PACKING ENGINE (KNAPSACK / GREEDY)  ➔  PHASE 2: SPATIAL ROUTING (DIJKSTRA / BELLMAN-FORD)</a:t>
            </a:r>
          </a:p>
        </p:txBody>
      </p:sp>
      <p:sp>
        <p:nvSpPr>
          <p:cNvPr id="5" name="Rounded Rectangle 4"/>
          <p:cNvSpPr/>
          <p:nvPr/>
        </p:nvSpPr>
        <p:spPr>
          <a:xfrm>
            <a:off x="731520" y="2743200"/>
            <a:ext cx="3328416" cy="347472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sz="1400" b="1">
                <a:solidFill>
                  <a:srgbClr val="241C1C"/>
                </a:solidFill>
                <a:latin typeface="The Seasons"/>
              </a:defRPr>
            </a:pPr>
            <a:r>
              <a:t>STEP 1: DEMAND &amp; GRAPH MODEL</a:t>
            </a:r>
          </a:p>
          <a:p>
            <a:pPr>
              <a:defRPr sz="900" b="1">
                <a:solidFill>
                  <a:srgbClr val="E85923"/>
                </a:solidFill>
                <a:latin typeface="Inter"/>
              </a:defRPr>
            </a:pPr>
            <a:r>
              <a:t>HYDERABAD ADJACENCY MATRIX</a:t>
            </a:r>
          </a:p>
          <a:p>
            <a:pPr>
              <a:defRPr sz="1050">
                <a:solidFill>
                  <a:srgbClr val="241C1C"/>
                </a:solidFill>
                <a:latin typeface="Inter"/>
              </a:defRPr>
            </a:pPr>
            <a:r>
              <a:t>• Central Hub: Main Parcel Warehouse (Begumpet)</a:t>
            </a:r>
            <a:br/>
            <a:r>
              <a:t>• 35+ Delivery Request Nodes</a:t>
            </a:r>
            <a:br/>
            <a:r>
              <a:t>• Fleet Constraints: Van (100 kg), EV Bike (30 kg)</a:t>
            </a:r>
            <a:br/>
            <a:r>
              <a:t>• Directed edge weights w(u,v) = road distance + traffic delays.</a:t>
            </a:r>
          </a:p>
        </p:txBody>
      </p:sp>
      <p:sp>
        <p:nvSpPr>
          <p:cNvPr id="6" name="Rounded Rectangle 5"/>
          <p:cNvSpPr/>
          <p:nvPr/>
        </p:nvSpPr>
        <p:spPr>
          <a:xfrm>
            <a:off x="4425696" y="2743200"/>
            <a:ext cx="3328416" cy="347472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sz="1400" b="1">
                <a:solidFill>
                  <a:srgbClr val="241C1C"/>
                </a:solidFill>
                <a:latin typeface="The Seasons"/>
              </a:defRPr>
            </a:pPr>
            <a:r>
              <a:t>STEP 2: CARGO OPTIMIZATION</a:t>
            </a:r>
          </a:p>
          <a:p>
            <a:pPr>
              <a:defRPr sz="900" b="1">
                <a:solidFill>
                  <a:srgbClr val="E85923"/>
                </a:solidFill>
                <a:latin typeface="Inter"/>
              </a:defRPr>
            </a:pPr>
            <a:r>
              <a:t>0/1 KNAPSACK VS GREEDY</a:t>
            </a:r>
          </a:p>
          <a:p>
            <a:pPr>
              <a:defRPr sz="1050">
                <a:solidFill>
                  <a:srgbClr val="241C1C"/>
                </a:solidFill>
                <a:latin typeface="Inter"/>
              </a:defRPr>
            </a:pPr>
            <a:r>
              <a:t>• Run 0/1 Knapsack DP to compute optimal subset max profit.</a:t>
            </a:r>
            <a:br/>
            <a:r>
              <a:t>• Run Profit Density Greedy (p/w) to compare heuristic speed.</a:t>
            </a:r>
            <a:br/>
            <a:r>
              <a:t>• Run Earliest Deadline First (EDF) for SLA compliance.</a:t>
            </a:r>
            <a:br/>
            <a:r>
              <a:t>• Measure profit loss and packing efficiency gaps.</a:t>
            </a:r>
          </a:p>
        </p:txBody>
      </p:sp>
      <p:sp>
        <p:nvSpPr>
          <p:cNvPr id="7" name="Rounded Rectangle 6"/>
          <p:cNvSpPr/>
          <p:nvPr/>
        </p:nvSpPr>
        <p:spPr>
          <a:xfrm>
            <a:off x="8119872" y="2743200"/>
            <a:ext cx="3328416" cy="347472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sz="1400" b="1">
                <a:solidFill>
                  <a:srgbClr val="241C1C"/>
                </a:solidFill>
                <a:latin typeface="The Seasons"/>
              </a:defRPr>
            </a:pPr>
            <a:r>
              <a:t>STEP 3: PATH SYNTHESIS</a:t>
            </a:r>
          </a:p>
          <a:p>
            <a:pPr>
              <a:defRPr sz="900" b="1">
                <a:solidFill>
                  <a:srgbClr val="E85923"/>
                </a:solidFill>
                <a:latin typeface="Inter"/>
              </a:defRPr>
            </a:pPr>
            <a:r>
              <a:t>DIJKSTRA &amp; BELLMAN-FORD</a:t>
            </a:r>
          </a:p>
          <a:p>
            <a:pPr>
              <a:defRPr sz="1050">
                <a:solidFill>
                  <a:srgbClr val="241C1C"/>
                </a:solidFill>
                <a:latin typeface="Inter"/>
              </a:defRPr>
            </a:pPr>
            <a:r>
              <a:t>• Dijkstra SSSP via custom Binary Min-Heap Priority Queue.</a:t>
            </a:r>
            <a:br/>
            <a:r>
              <a:t>• Bellman-Ford checks for negative traffic congestion cycles.</a:t>
            </a:r>
            <a:br/>
            <a:r>
              <a:t>• Construct optimal turn-by-turn waypoint sequences.</a:t>
            </a:r>
            <a:br/>
            <a:r>
              <a:t>• Output live dispatch metrics to Google Maps interface.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548640"/>
            <a:ext cx="256032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04 • METHODOLOGY</a:t>
            </a:r>
          </a:p>
        </p:txBody>
      </p:sp>
      <p:sp>
        <p:nvSpPr>
          <p:cNvPr id="3" name="TextBox 2"/>
          <p:cNvSpPr txBox="1"/>
          <p:nvPr/>
        </p:nvSpPr>
        <p:spPr>
          <a:xfrm>
            <a:off x="731520" y="1005840"/>
            <a:ext cx="10698480" cy="640080"/>
          </a:xfrm>
          <a:prstGeom prst="rect">
            <a:avLst/>
          </a:prstGeom>
          <a:noFill/>
        </p:spPr>
        <p:txBody>
          <a:bodyPr wrap="square" lIns="0" tIns="0" rIns="0" bIns="0">
            <a:spAutoFit/>
          </a:bodyPr>
          <a:lstStyle/>
          <a:p>
            <a:pPr>
              <a:defRPr sz="3200" b="1">
                <a:solidFill>
                  <a:srgbClr val="241C1C"/>
                </a:solidFill>
                <a:latin typeface="The Seasons"/>
              </a:defRPr>
            </a:pPr>
            <a:r>
              <a:t>DEEP DIVE: KNAPSACK DP VS GREEDY ALGORITHMS</a:t>
            </a:r>
          </a:p>
        </p:txBody>
      </p:sp>
      <p:sp>
        <p:nvSpPr>
          <p:cNvPr id="4" name="Rounded Rectangle 3"/>
          <p:cNvSpPr/>
          <p:nvPr/>
        </p:nvSpPr>
        <p:spPr>
          <a:xfrm>
            <a:off x="731520" y="1828800"/>
            <a:ext cx="3328416" cy="438912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sz="1400" b="1">
                <a:solidFill>
                  <a:srgbClr val="241C1C"/>
                </a:solidFill>
                <a:latin typeface="The Seasons"/>
              </a:defRPr>
            </a:pPr>
            <a:r>
              <a:t>0/1 KNAPSACK (DP)</a:t>
            </a:r>
          </a:p>
          <a:p>
            <a:pPr>
              <a:defRPr sz="900" b="1">
                <a:solidFill>
                  <a:srgbClr val="E85923"/>
                </a:solidFill>
                <a:latin typeface="Inter"/>
              </a:defRPr>
            </a:pPr>
            <a:r>
              <a:t>BELLMAN RECURRENCE • O(N · W)</a:t>
            </a:r>
          </a:p>
          <a:p>
            <a:pPr>
              <a:defRPr sz="1000">
                <a:solidFill>
                  <a:srgbClr val="241C1C"/>
                </a:solidFill>
                <a:latin typeface="Inter"/>
              </a:defRPr>
            </a:pPr>
            <a:r>
              <a:t>Mathematical Formulation:</a:t>
            </a:r>
            <a:br/>
            <a:r>
              <a:t>DP[i][w] = DP[i-1][w]   if w_i &gt; w</a:t>
            </a:r>
            <a:br/>
            <a:r>
              <a:t>DP[i][w] = max(DP[i-1][w], DP[i-1][w - w_i] + p_i)</a:t>
            </a:r>
            <a:br/>
            <a:br/>
            <a:r>
              <a:t>• Table Dimension: (N + 1) × (W + 1)</a:t>
            </a:r>
            <a:br/>
            <a:r>
              <a:t>• Backtracking extracts chosen orders by checking if DP[i][w] != DP[i-1][w].</a:t>
            </a:r>
            <a:br/>
            <a:r>
              <a:t>• Theoretical Invariant: Guarantees 100% global optimal revenue capture.</a:t>
            </a:r>
          </a:p>
        </p:txBody>
      </p:sp>
      <p:sp>
        <p:nvSpPr>
          <p:cNvPr id="5" name="Rounded Rectangle 4"/>
          <p:cNvSpPr/>
          <p:nvPr/>
        </p:nvSpPr>
        <p:spPr>
          <a:xfrm>
            <a:off x="4425696" y="1828800"/>
            <a:ext cx="3328416" cy="438912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sz="1400" b="1">
                <a:solidFill>
                  <a:srgbClr val="241C1C"/>
                </a:solidFill>
                <a:latin typeface="The Seasons"/>
              </a:defRPr>
            </a:pPr>
            <a:r>
              <a:t>PROFIT DENSITY GREEDY</a:t>
            </a:r>
          </a:p>
          <a:p>
            <a:pPr>
              <a:defRPr sz="900" b="1">
                <a:solidFill>
                  <a:srgbClr val="E85923"/>
                </a:solidFill>
                <a:latin typeface="Inter"/>
              </a:defRPr>
            </a:pPr>
            <a:r>
              <a:t>DANTZIG RATIO SORT • O(N LOG N)</a:t>
            </a:r>
          </a:p>
          <a:p>
            <a:pPr>
              <a:defRPr sz="1000">
                <a:solidFill>
                  <a:srgbClr val="241C1C"/>
                </a:solidFill>
                <a:latin typeface="Inter"/>
              </a:defRPr>
            </a:pPr>
            <a:r>
              <a:t>Heuristic Formulation:</a:t>
            </a:r>
            <a:br/>
            <a:r>
              <a:t>Sort orders by ratio r_i = p_i / w_i in descending order.</a:t>
            </a:r>
            <a:br/>
            <a:r>
              <a:t>Iteratively pick order if curr_weight + w_i &lt;= W.</a:t>
            </a:r>
            <a:br/>
            <a:br/>
            <a:r>
              <a:t>• Why Greedy Fails discrete 0/1:</a:t>
            </a:r>
            <a:br/>
            <a:r>
              <a:t>Greedy choice property guarantees optimality only when parcels are divisible. For discrete items, packing voids waste capacity.</a:t>
            </a:r>
          </a:p>
        </p:txBody>
      </p:sp>
      <p:sp>
        <p:nvSpPr>
          <p:cNvPr id="6" name="Rounded Rectangle 5"/>
          <p:cNvSpPr/>
          <p:nvPr/>
        </p:nvSpPr>
        <p:spPr>
          <a:xfrm>
            <a:off x="8119872" y="1828800"/>
            <a:ext cx="3328416" cy="438912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sz="1400" b="1">
                <a:solidFill>
                  <a:srgbClr val="241C1C"/>
                </a:solidFill>
                <a:latin typeface="The Seasons"/>
              </a:defRPr>
            </a:pPr>
            <a:r>
              <a:t>GREEDY HEURISTIC VARIANTS</a:t>
            </a:r>
          </a:p>
          <a:p>
            <a:pPr>
              <a:defRPr sz="900" b="1">
                <a:solidFill>
                  <a:srgbClr val="E85923"/>
                </a:solidFill>
                <a:latin typeface="Inter"/>
              </a:defRPr>
            </a:pPr>
            <a:r>
              <a:t>PRIORITY CRITERIA COMPARISON</a:t>
            </a:r>
          </a:p>
          <a:p>
            <a:pPr>
              <a:defRPr sz="1000">
                <a:solidFill>
                  <a:srgbClr val="241C1C"/>
                </a:solidFill>
                <a:latin typeface="Inter"/>
              </a:defRPr>
            </a:pPr>
            <a:r>
              <a:t>Evaluated Three Alternative Policies:</a:t>
            </a:r>
            <a:br/>
            <a:br/>
            <a:r>
              <a:t>1. Profit Density: max (p_i / w_i)</a:t>
            </a:r>
            <a:br/>
            <a:r>
              <a:t>   Fastest practical heuristic (0.4 ms).</a:t>
            </a:r>
            <a:br/>
            <a:r>
              <a:t>2. Highest Profit: max p_i</a:t>
            </a:r>
            <a:br/>
            <a:r>
              <a:t>   Biased toward heavy items; low count.</a:t>
            </a:r>
            <a:br/>
            <a:r>
              <a:t>3. Earliest Deadline: min d_i</a:t>
            </a:r>
            <a:br/>
            <a:r>
              <a:t>   Prioritizes urgent SLAs over total profit.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548640"/>
            <a:ext cx="256032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04 • METHODOLOGY</a:t>
            </a:r>
          </a:p>
        </p:txBody>
      </p:sp>
      <p:sp>
        <p:nvSpPr>
          <p:cNvPr id="3" name="TextBox 2"/>
          <p:cNvSpPr txBox="1"/>
          <p:nvPr/>
        </p:nvSpPr>
        <p:spPr>
          <a:xfrm>
            <a:off x="731520" y="1005840"/>
            <a:ext cx="10698480" cy="640080"/>
          </a:xfrm>
          <a:prstGeom prst="rect">
            <a:avLst/>
          </a:prstGeom>
          <a:noFill/>
        </p:spPr>
        <p:txBody>
          <a:bodyPr wrap="square" lIns="0" tIns="0" rIns="0" bIns="0">
            <a:spAutoFit/>
          </a:bodyPr>
          <a:lstStyle/>
          <a:p>
            <a:pPr>
              <a:defRPr sz="3200" b="1">
                <a:solidFill>
                  <a:srgbClr val="241C1C"/>
                </a:solidFill>
                <a:latin typeface="The Seasons"/>
              </a:defRPr>
            </a:pPr>
            <a:r>
              <a:t>DEEP DIVE: DIJKSTRA VS BELLMAN-FORD ROUTING</a:t>
            </a:r>
          </a:p>
        </p:txBody>
      </p:sp>
      <p:sp>
        <p:nvSpPr>
          <p:cNvPr id="4" name="Rounded Rectangle 3"/>
          <p:cNvSpPr/>
          <p:nvPr/>
        </p:nvSpPr>
        <p:spPr>
          <a:xfrm>
            <a:off x="731520" y="1828800"/>
            <a:ext cx="3328416" cy="438912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sz="1400" b="1">
                <a:solidFill>
                  <a:srgbClr val="241C1C"/>
                </a:solidFill>
                <a:latin typeface="The Seasons"/>
              </a:defRPr>
            </a:pPr>
            <a:r>
              <a:t>DIJKSTRA'S ALGORITHM</a:t>
            </a:r>
          </a:p>
          <a:p>
            <a:pPr>
              <a:defRPr sz="900" b="1">
                <a:solidFill>
                  <a:srgbClr val="E85923"/>
                </a:solidFill>
                <a:latin typeface="Inter"/>
              </a:defRPr>
            </a:pPr>
            <a:r>
              <a:t>MIN-HEAP GREEDY • O((V+E) LOG V)</a:t>
            </a:r>
          </a:p>
          <a:p>
            <a:pPr>
              <a:defRPr sz="1000">
                <a:solidFill>
                  <a:srgbClr val="241C1C"/>
                </a:solidFill>
                <a:latin typeface="Inter"/>
              </a:defRPr>
            </a:pPr>
            <a:r>
              <a:t>Algorithmic Mechanics:</a:t>
            </a:r>
            <a:br/>
            <a:r>
              <a:t>• Initialize dist[start] = 0, dist[v] = ∞</a:t>
            </a:r>
            <a:br/>
            <a:r>
              <a:t>• Push (0, start) to custom Min-Heap Priority Queue.</a:t>
            </a:r>
            <a:br/>
            <a:r>
              <a:t>• Invariant: Greedily extract vertex u with minimum tentative distance. It is permanently finalized.</a:t>
            </a:r>
            <a:br/>
            <a:r>
              <a:t>• Relax adjacent edges:</a:t>
            </a:r>
            <a:br/>
            <a:r>
              <a:t>  dist[v] = min(dist[v], dist[u] + w(u,v))</a:t>
            </a:r>
            <a:br/>
            <a:br/>
            <a:r>
              <a:t>Limitation: Requires w(u,v) &gt;= 0. Cannot handle negative toll rebates or congestion credits.</a:t>
            </a:r>
          </a:p>
        </p:txBody>
      </p:sp>
      <p:sp>
        <p:nvSpPr>
          <p:cNvPr id="5" name="Rounded Rectangle 4"/>
          <p:cNvSpPr/>
          <p:nvPr/>
        </p:nvSpPr>
        <p:spPr>
          <a:xfrm>
            <a:off x="4425696" y="1828800"/>
            <a:ext cx="3328416" cy="438912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sz="1400" b="1">
                <a:solidFill>
                  <a:srgbClr val="241C1C"/>
                </a:solidFill>
                <a:latin typeface="The Seasons"/>
              </a:defRPr>
            </a:pPr>
            <a:r>
              <a:t>BELLMAN-FORD ALGORITHM</a:t>
            </a:r>
          </a:p>
          <a:p>
            <a:pPr>
              <a:defRPr sz="900" b="1">
                <a:solidFill>
                  <a:srgbClr val="E85923"/>
                </a:solidFill>
                <a:latin typeface="Inter"/>
              </a:defRPr>
            </a:pPr>
            <a:r>
              <a:t>DP EDGE RELAXATION • O(V · E)</a:t>
            </a:r>
          </a:p>
          <a:p>
            <a:pPr>
              <a:defRPr sz="1000">
                <a:solidFill>
                  <a:srgbClr val="241C1C"/>
                </a:solidFill>
                <a:latin typeface="Inter"/>
              </a:defRPr>
            </a:pPr>
            <a:r>
              <a:t>Algorithmic Mechanics:</a:t>
            </a:r>
            <a:br/>
            <a:r>
              <a:t>• Relaxes all |E| directed edges for |V| - 1 iterations:</a:t>
            </a:r>
            <a:br/>
            <a:r>
              <a:t>  d^(k)[v] = min_{(u,v)} (d^(k-1)[v], d^(k-1)[u] + w(u,v))</a:t>
            </a:r>
            <a:br/>
            <a:br/>
            <a:r>
              <a:t>• Cycle Detection Invariant:</a:t>
            </a:r>
            <a:br/>
            <a:r>
              <a:t>  If edge (u,v) relaxes on pass |V|, graph contains a negative-weight cycle.</a:t>
            </a:r>
            <a:br/>
            <a:br/>
            <a:r>
              <a:t>Benefit: Handles dynamic penalty adjustments and toll rebates without algorithmic failure.</a:t>
            </a:r>
          </a:p>
        </p:txBody>
      </p:sp>
      <p:sp>
        <p:nvSpPr>
          <p:cNvPr id="6" name="Rounded Rectangle 5"/>
          <p:cNvSpPr/>
          <p:nvPr/>
        </p:nvSpPr>
        <p:spPr>
          <a:xfrm>
            <a:off x="8119872" y="1828800"/>
            <a:ext cx="3328416" cy="438912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sz="1400" b="1">
                <a:solidFill>
                  <a:srgbClr val="241C1C"/>
                </a:solidFill>
                <a:latin typeface="The Seasons"/>
              </a:defRPr>
            </a:pPr>
            <a:r>
              <a:t>PRACTICAL LOGISTICS ROLE</a:t>
            </a:r>
          </a:p>
          <a:p>
            <a:pPr>
              <a:defRPr sz="900" b="1">
                <a:solidFill>
                  <a:srgbClr val="E85923"/>
                </a:solidFill>
                <a:latin typeface="Inter"/>
              </a:defRPr>
            </a:pPr>
            <a:r>
              <a:t>HYBRID DUAL GRAPH ENGINE</a:t>
            </a:r>
          </a:p>
          <a:p>
            <a:pPr>
              <a:defRPr sz="1000">
                <a:solidFill>
                  <a:srgbClr val="241C1C"/>
                </a:solidFill>
                <a:latin typeface="Inter"/>
              </a:defRPr>
            </a:pPr>
            <a:r>
              <a:t>Operational Synergies in SmartRoute:</a:t>
            </a:r>
            <a:br/>
            <a:br/>
            <a:r>
              <a:t>• Primary Real-Time Routing: Dijkstra executes in 4.2 ms across Hyderabad corridors for instant turn-by-turn directions.</a:t>
            </a:r>
            <a:br/>
            <a:br/>
            <a:r>
              <a:t>• Congestion &amp; Integrity Audit: Bellman-Ford runs in background (18.7 ms) to detect traffic deadlock loops and model dynamic incentive subsidies.</a:t>
            </a:r>
            <a:br/>
            <a:br/>
            <a:r>
              <a:t>• Viva Takeaway: Demonstrates deep mastery of both Greedy &amp; DP shortest-path paradigms.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pic>
        <p:nvPicPr>
          <p:cNvPr id="2" name="Picture 1" descr="gradient_vertical_magenta.png"/>
          <p:cNvPicPr>
            <a:picLocks noChangeAspect="1"/>
          </p:cNvPicPr>
          <p:nvPr/>
        </p:nvPicPr>
        <p:blipFill>
          <a:blip r:embed="rId2"/>
          <a:stretch>
            <a:fillRect/>
          </a:stretch>
        </p:blipFill>
        <p:spPr>
          <a:xfrm>
            <a:off x="731520" y="685800"/>
            <a:ext cx="3840480" cy="5486400"/>
          </a:xfrm>
          <a:prstGeom prst="rect">
            <a:avLst/>
          </a:prstGeom>
        </p:spPr>
      </p:pic>
      <p:sp>
        <p:nvSpPr>
          <p:cNvPr id="3" name="Rounded Rectangle 2"/>
          <p:cNvSpPr/>
          <p:nvPr/>
        </p:nvSpPr>
        <p:spPr>
          <a:xfrm>
            <a:off x="5029200" y="685800"/>
            <a:ext cx="228600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05 • SOLUTION</a:t>
            </a:r>
          </a:p>
        </p:txBody>
      </p:sp>
      <p:sp>
        <p:nvSpPr>
          <p:cNvPr id="4" name="TextBox 3"/>
          <p:cNvSpPr txBox="1"/>
          <p:nvPr/>
        </p:nvSpPr>
        <p:spPr>
          <a:xfrm>
            <a:off x="5029200" y="1234440"/>
            <a:ext cx="6400800" cy="1280160"/>
          </a:xfrm>
          <a:prstGeom prst="rect">
            <a:avLst/>
          </a:prstGeom>
          <a:noFill/>
        </p:spPr>
        <p:txBody>
          <a:bodyPr wrap="square" lIns="0" tIns="0" rIns="0" bIns="0">
            <a:spAutoFit/>
          </a:bodyPr>
          <a:lstStyle/>
          <a:p>
            <a:pPr>
              <a:defRPr sz="3600" b="1">
                <a:solidFill>
                  <a:srgbClr val="241C1C"/>
                </a:solidFill>
                <a:latin typeface="The Seasons"/>
              </a:defRPr>
            </a:pPr>
            <a:r>
              <a:t>SMARTROUTE DUAL-ENGINE</a:t>
            </a:r>
            <a:br/>
            <a:r>
              <a:t>SYSTEM ARCHITECTURE</a:t>
            </a:r>
          </a:p>
        </p:txBody>
      </p:sp>
      <p:sp>
        <p:nvSpPr>
          <p:cNvPr id="5" name="TextBox 4"/>
          <p:cNvSpPr txBox="1"/>
          <p:nvPr/>
        </p:nvSpPr>
        <p:spPr>
          <a:xfrm>
            <a:off x="5029200" y="2651760"/>
            <a:ext cx="6400800" cy="3657600"/>
          </a:xfrm>
          <a:prstGeom prst="rect">
            <a:avLst/>
          </a:prstGeom>
          <a:noFill/>
        </p:spPr>
        <p:txBody>
          <a:bodyPr wrap="square">
            <a:spAutoFit/>
          </a:bodyPr>
          <a:lstStyle/>
          <a:p>
            <a:pPr>
              <a:defRPr sz="1200" b="1">
                <a:solidFill>
                  <a:srgbClr val="241C1C"/>
                </a:solidFill>
                <a:latin typeface="Inter"/>
              </a:defRPr>
            </a:pPr>
            <a:r>
              <a:t>AN INTEGRATED FULL-STACK PLATFORM COMBINING RIGOROUS DAA ENGINES WITH PRODUCTION-GRADE OPERATIONAL VISUALIZATION:</a:t>
            </a:r>
          </a:p>
          <a:p>
            <a:pPr>
              <a:defRPr sz="1100" b="1">
                <a:solidFill>
                  <a:srgbClr val="E85923"/>
                </a:solidFill>
                <a:latin typeface="Inter"/>
              </a:defRPr>
            </a:pPr>
            <a:r>
              <a:t>1. Packing Engine (Knapsack DP &amp; Greedy Comparator):</a:t>
            </a:r>
          </a:p>
          <a:p>
            <a:pPr>
              <a:defRPr sz="1000">
                <a:solidFill>
                  <a:srgbClr val="241C1C"/>
                </a:solidFill>
                <a:latin typeface="Inter"/>
              </a:defRPr>
            </a:pPr>
            <a:r>
              <a:t>Accepts live customer parcel orders, verifies driver vehicle weight constraints, and solves the 0/1 Knapsack problem in real-time alongside Profit Density, Max Profit, and EDF heuristics.</a:t>
            </a:r>
          </a:p>
          <a:p>
            <a:pPr>
              <a:defRPr sz="1100" b="1">
                <a:solidFill>
                  <a:srgbClr val="E85923"/>
                </a:solidFill>
                <a:latin typeface="Inter"/>
              </a:defRPr>
            </a:pPr>
            <a:r>
              <a:t>2. Routing Engine (Dijkstra Min-Heap &amp; Hyderabad Graph):</a:t>
            </a:r>
          </a:p>
          <a:p>
            <a:pPr>
              <a:defRPr sz="1000">
                <a:solidFill>
                  <a:srgbClr val="241C1C"/>
                </a:solidFill>
                <a:latin typeface="Inter"/>
              </a:defRPr>
            </a:pPr>
            <a:r>
              <a:t>Maintains the Hyderabad road network adjacency list centered at Begumpet Hub. Calculates exact minimum travel distance, waypoint sequences, and transit durations.</a:t>
            </a:r>
          </a:p>
          <a:p>
            <a:pPr>
              <a:defRPr sz="1100" b="1">
                <a:solidFill>
                  <a:srgbClr val="E85923"/>
                </a:solidFill>
                <a:latin typeface="Inter"/>
              </a:defRPr>
            </a:pPr>
            <a:r>
              <a:t>3. Verification Engine (Bellman-Ford Congestion Auditor):</a:t>
            </a:r>
          </a:p>
          <a:p>
            <a:pPr>
              <a:defRPr sz="1000">
                <a:solidFill>
                  <a:srgbClr val="241C1C"/>
                </a:solidFill>
                <a:latin typeface="Inter"/>
              </a:defRPr>
            </a:pPr>
            <a:r>
              <a:t>Audits transit routes against dynamic toll penalties, green corridor subsidies, and negative congestion cycles to guarantee route stability.</a:t>
            </a:r>
          </a:p>
          <a:p>
            <a:pPr>
              <a:defRPr sz="1100" b="1">
                <a:solidFill>
                  <a:srgbClr val="E85923"/>
                </a:solidFill>
                <a:latin typeface="Inter"/>
              </a:defRPr>
            </a:pPr>
            <a:r>
              <a:t>4. Operations UI (Google Maps &amp; Educational Algorithm Labs):</a:t>
            </a:r>
          </a:p>
          <a:p>
            <a:pPr>
              <a:defRPr sz="1000">
                <a:solidFill>
                  <a:srgbClr val="241C1C"/>
                </a:solidFill>
                <a:latin typeface="Inter"/>
              </a:defRPr>
            </a:pPr>
            <a:r>
              <a:t>Interactive web dashboard with real-time route polylines, 2D DP cell-by-cell inspection, Min-Heap step tracing, and faculty viva cheat sheets.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548640"/>
            <a:ext cx="347472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05 • SOLUTION &amp; PROTOTYPE</a:t>
            </a:r>
          </a:p>
        </p:txBody>
      </p:sp>
      <p:sp>
        <p:nvSpPr>
          <p:cNvPr id="3" name="TextBox 2"/>
          <p:cNvSpPr txBox="1"/>
          <p:nvPr/>
        </p:nvSpPr>
        <p:spPr>
          <a:xfrm>
            <a:off x="731520" y="1005840"/>
            <a:ext cx="10698480" cy="640080"/>
          </a:xfrm>
          <a:prstGeom prst="rect">
            <a:avLst/>
          </a:prstGeom>
          <a:noFill/>
        </p:spPr>
        <p:txBody>
          <a:bodyPr wrap="square" lIns="0" tIns="0" rIns="0" bIns="0">
            <a:spAutoFit/>
          </a:bodyPr>
          <a:lstStyle/>
          <a:p>
            <a:pPr>
              <a:defRPr sz="3000" b="1">
                <a:solidFill>
                  <a:srgbClr val="241C1C"/>
                </a:solidFill>
                <a:latin typeface="The Seasons"/>
              </a:defRPr>
            </a:pPr>
            <a:r>
              <a:t>PROTOTYPE SHOWCASE: OPERATIONS &amp; DIJKSTRA ENGINE</a:t>
            </a:r>
          </a:p>
        </p:txBody>
      </p:sp>
      <p:sp>
        <p:nvSpPr>
          <p:cNvPr id="4" name="Rounded Rectangle 3"/>
          <p:cNvSpPr/>
          <p:nvPr/>
        </p:nvSpPr>
        <p:spPr>
          <a:xfrm>
            <a:off x="731520" y="1737360"/>
            <a:ext cx="5212080" cy="457200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perations_overview.png"/>
          <p:cNvPicPr>
            <a:picLocks noChangeAspect="1"/>
          </p:cNvPicPr>
          <p:nvPr/>
        </p:nvPicPr>
        <p:blipFill>
          <a:blip r:embed="rId2"/>
          <a:stretch>
            <a:fillRect/>
          </a:stretch>
        </p:blipFill>
        <p:spPr>
          <a:xfrm>
            <a:off x="914400" y="1920240"/>
            <a:ext cx="4846320" cy="3108960"/>
          </a:xfrm>
          <a:prstGeom prst="rect">
            <a:avLst/>
          </a:prstGeom>
        </p:spPr>
      </p:pic>
      <p:sp>
        <p:nvSpPr>
          <p:cNvPr id="6" name="TextBox 5"/>
          <p:cNvSpPr txBox="1"/>
          <p:nvPr/>
        </p:nvSpPr>
        <p:spPr>
          <a:xfrm>
            <a:off x="914400" y="5166360"/>
            <a:ext cx="4846320" cy="1005840"/>
          </a:xfrm>
          <a:prstGeom prst="rect">
            <a:avLst/>
          </a:prstGeom>
          <a:noFill/>
        </p:spPr>
        <p:txBody>
          <a:bodyPr wrap="square">
            <a:spAutoFit/>
          </a:bodyPr>
          <a:lstStyle/>
          <a:p>
            <a:pPr>
              <a:defRPr sz="1300" b="1">
                <a:solidFill>
                  <a:srgbClr val="241C1C"/>
                </a:solidFill>
                <a:latin typeface="The Seasons"/>
              </a:defRPr>
            </a:pPr>
            <a:r>
              <a:t>Google Maps Fleet Operations Dashboard</a:t>
            </a:r>
          </a:p>
          <a:p>
            <a:pPr>
              <a:defRPr sz="950">
                <a:solidFill>
                  <a:srgbClr val="736964"/>
                </a:solidFill>
                <a:latin typeface="Inter"/>
              </a:defRPr>
            </a:pPr>
            <a:r>
              <a:t>Visualizes Begumpet Central Hub, 35+ Hyderabad delivery nodes, vehicle fleet capacity metrics, and active corridor route polylines.</a:t>
            </a:r>
          </a:p>
        </p:txBody>
      </p:sp>
      <p:sp>
        <p:nvSpPr>
          <p:cNvPr id="7" name="Rounded Rectangle 6"/>
          <p:cNvSpPr/>
          <p:nvPr/>
        </p:nvSpPr>
        <p:spPr>
          <a:xfrm>
            <a:off x="6217920" y="1737360"/>
            <a:ext cx="5212080" cy="457200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b2_dijkstra.png"/>
          <p:cNvPicPr>
            <a:picLocks noChangeAspect="1"/>
          </p:cNvPicPr>
          <p:nvPr/>
        </p:nvPicPr>
        <p:blipFill>
          <a:blip r:embed="rId3"/>
          <a:stretch>
            <a:fillRect/>
          </a:stretch>
        </p:blipFill>
        <p:spPr>
          <a:xfrm>
            <a:off x="6400800" y="1920240"/>
            <a:ext cx="4846320" cy="3108960"/>
          </a:xfrm>
          <a:prstGeom prst="rect">
            <a:avLst/>
          </a:prstGeom>
        </p:spPr>
      </p:pic>
      <p:sp>
        <p:nvSpPr>
          <p:cNvPr id="9" name="TextBox 8"/>
          <p:cNvSpPr txBox="1"/>
          <p:nvPr/>
        </p:nvSpPr>
        <p:spPr>
          <a:xfrm>
            <a:off x="6400800" y="5166360"/>
            <a:ext cx="4846320" cy="1005840"/>
          </a:xfrm>
          <a:prstGeom prst="rect">
            <a:avLst/>
          </a:prstGeom>
          <a:noFill/>
        </p:spPr>
        <p:txBody>
          <a:bodyPr wrap="square">
            <a:spAutoFit/>
          </a:bodyPr>
          <a:lstStyle/>
          <a:p>
            <a:pPr>
              <a:defRPr sz="1300" b="1">
                <a:solidFill>
                  <a:srgbClr val="241C1C"/>
                </a:solidFill>
                <a:latin typeface="The Seasons"/>
              </a:defRPr>
            </a:pPr>
            <a:r>
              <a:t>Dijkstra Min-Heap Step Tracer &amp; Hyderabad Graph</a:t>
            </a:r>
          </a:p>
          <a:p>
            <a:pPr>
              <a:defRPr sz="950">
                <a:solidFill>
                  <a:srgbClr val="736964"/>
                </a:solidFill>
                <a:latin typeface="Inter"/>
              </a:defRPr>
            </a:pPr>
            <a:r>
              <a:t>Manual binary min-heap step-by-step priority queue playback, edge relaxation logging, and pedagogical viva explanations.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548640"/>
            <a:ext cx="347472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05 • SOLUTION &amp; PROTOTYPE</a:t>
            </a:r>
          </a:p>
        </p:txBody>
      </p:sp>
      <p:sp>
        <p:nvSpPr>
          <p:cNvPr id="3" name="TextBox 2"/>
          <p:cNvSpPr txBox="1"/>
          <p:nvPr/>
        </p:nvSpPr>
        <p:spPr>
          <a:xfrm>
            <a:off x="731520" y="1005840"/>
            <a:ext cx="10698480" cy="640080"/>
          </a:xfrm>
          <a:prstGeom prst="rect">
            <a:avLst/>
          </a:prstGeom>
          <a:noFill/>
        </p:spPr>
        <p:txBody>
          <a:bodyPr wrap="square" lIns="0" tIns="0" rIns="0" bIns="0">
            <a:spAutoFit/>
          </a:bodyPr>
          <a:lstStyle/>
          <a:p>
            <a:pPr>
              <a:defRPr sz="3000" b="1">
                <a:solidFill>
                  <a:srgbClr val="241C1C"/>
                </a:solidFill>
                <a:latin typeface="The Seasons"/>
              </a:defRPr>
            </a:pPr>
            <a:r>
              <a:t>PROTOTYPE SHOWCASE: 0/1 KNAPSACK &amp; BENCHMARKS</a:t>
            </a:r>
          </a:p>
        </p:txBody>
      </p:sp>
      <p:sp>
        <p:nvSpPr>
          <p:cNvPr id="4" name="Rounded Rectangle 3"/>
          <p:cNvSpPr/>
          <p:nvPr/>
        </p:nvSpPr>
        <p:spPr>
          <a:xfrm>
            <a:off x="731520" y="1737360"/>
            <a:ext cx="5212080" cy="457200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b4_knapsack.png"/>
          <p:cNvPicPr>
            <a:picLocks noChangeAspect="1"/>
          </p:cNvPicPr>
          <p:nvPr/>
        </p:nvPicPr>
        <p:blipFill>
          <a:blip r:embed="rId2"/>
          <a:stretch>
            <a:fillRect/>
          </a:stretch>
        </p:blipFill>
        <p:spPr>
          <a:xfrm>
            <a:off x="914400" y="1920240"/>
            <a:ext cx="4846320" cy="3108960"/>
          </a:xfrm>
          <a:prstGeom prst="rect">
            <a:avLst/>
          </a:prstGeom>
        </p:spPr>
      </p:pic>
      <p:sp>
        <p:nvSpPr>
          <p:cNvPr id="6" name="TextBox 5"/>
          <p:cNvSpPr txBox="1"/>
          <p:nvPr/>
        </p:nvSpPr>
        <p:spPr>
          <a:xfrm>
            <a:off x="914400" y="5166360"/>
            <a:ext cx="4846320" cy="1005840"/>
          </a:xfrm>
          <a:prstGeom prst="rect">
            <a:avLst/>
          </a:prstGeom>
          <a:noFill/>
        </p:spPr>
        <p:txBody>
          <a:bodyPr wrap="square">
            <a:spAutoFit/>
          </a:bodyPr>
          <a:lstStyle/>
          <a:p>
            <a:pPr>
              <a:defRPr sz="1300" b="1">
                <a:solidFill>
                  <a:srgbClr val="241C1C"/>
                </a:solidFill>
                <a:latin typeface="The Seasons"/>
              </a:defRPr>
            </a:pPr>
            <a:r>
              <a:t>0/1 Knapsack 2D DP Table &amp; Backtracking Inspector</a:t>
            </a:r>
          </a:p>
          <a:p>
            <a:pPr>
              <a:defRPr sz="950">
                <a:solidFill>
                  <a:srgbClr val="736964"/>
                </a:solidFill>
                <a:latin typeface="Inter"/>
              </a:defRPr>
            </a:pPr>
            <a:r>
              <a:t>Complete (N+1) × (W+1) memoization table with cell-level SKIP vs TAKE arithmetic inspector and golden backtracking path.</a:t>
            </a:r>
          </a:p>
        </p:txBody>
      </p:sp>
      <p:sp>
        <p:nvSpPr>
          <p:cNvPr id="7" name="Rounded Rectangle 6"/>
          <p:cNvSpPr/>
          <p:nvPr/>
        </p:nvSpPr>
        <p:spPr>
          <a:xfrm>
            <a:off x="6217920" y="1737360"/>
            <a:ext cx="5212080" cy="457200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b6_benchmark.png"/>
          <p:cNvPicPr>
            <a:picLocks noChangeAspect="1"/>
          </p:cNvPicPr>
          <p:nvPr/>
        </p:nvPicPr>
        <p:blipFill>
          <a:blip r:embed="rId3"/>
          <a:stretch>
            <a:fillRect/>
          </a:stretch>
        </p:blipFill>
        <p:spPr>
          <a:xfrm>
            <a:off x="6400800" y="1920240"/>
            <a:ext cx="4846320" cy="3108960"/>
          </a:xfrm>
          <a:prstGeom prst="rect">
            <a:avLst/>
          </a:prstGeom>
        </p:spPr>
      </p:pic>
      <p:sp>
        <p:nvSpPr>
          <p:cNvPr id="9" name="TextBox 8"/>
          <p:cNvSpPr txBox="1"/>
          <p:nvPr/>
        </p:nvSpPr>
        <p:spPr>
          <a:xfrm>
            <a:off x="6400800" y="5166360"/>
            <a:ext cx="4846320" cy="1005840"/>
          </a:xfrm>
          <a:prstGeom prst="rect">
            <a:avLst/>
          </a:prstGeom>
          <a:noFill/>
        </p:spPr>
        <p:txBody>
          <a:bodyPr wrap="square">
            <a:spAutoFit/>
          </a:bodyPr>
          <a:lstStyle/>
          <a:p>
            <a:pPr>
              <a:defRPr sz="1300" b="1">
                <a:solidFill>
                  <a:srgbClr val="241C1C"/>
                </a:solidFill>
                <a:latin typeface="The Seasons"/>
              </a:defRPr>
            </a:pPr>
            <a:r>
              <a:t>Algorithm Benchmark Matrix &amp; Faculty Viva Guide</a:t>
            </a:r>
          </a:p>
          <a:p>
            <a:pPr>
              <a:defRPr sz="950">
                <a:solidFill>
                  <a:srgbClr val="736964"/>
                </a:solidFill>
                <a:latin typeface="Inter"/>
              </a:defRPr>
            </a:pPr>
            <a:r>
              <a:t>Live empirical metrics comparing DP vs Greedy heuristics, revenue capture, and faculty viva voce cheat sheet with proof sketches.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548640"/>
            <a:ext cx="347472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06 • FINAL OUTCOME &amp; RESULTS</a:t>
            </a:r>
          </a:p>
        </p:txBody>
      </p:sp>
      <p:sp>
        <p:nvSpPr>
          <p:cNvPr id="3" name="TextBox 2"/>
          <p:cNvSpPr txBox="1"/>
          <p:nvPr/>
        </p:nvSpPr>
        <p:spPr>
          <a:xfrm>
            <a:off x="731520" y="1005840"/>
            <a:ext cx="10698480" cy="640080"/>
          </a:xfrm>
          <a:prstGeom prst="rect">
            <a:avLst/>
          </a:prstGeom>
          <a:noFill/>
        </p:spPr>
        <p:txBody>
          <a:bodyPr wrap="square" lIns="0" tIns="0" rIns="0" bIns="0">
            <a:spAutoFit/>
          </a:bodyPr>
          <a:lstStyle/>
          <a:p>
            <a:pPr>
              <a:defRPr sz="2800" b="1">
                <a:solidFill>
                  <a:srgbClr val="241C1C"/>
                </a:solidFill>
                <a:latin typeface="The Seasons"/>
              </a:defRPr>
            </a:pPr>
            <a:r>
              <a:t>EMPIRICAL BENCHMARK MATRIX ACROSS THE 4 ALGORITHMS</a:t>
            </a:r>
          </a:p>
        </p:txBody>
      </p:sp>
      <p:sp>
        <p:nvSpPr>
          <p:cNvPr id="4" name="Rounded Rectangle 3"/>
          <p:cNvSpPr/>
          <p:nvPr/>
        </p:nvSpPr>
        <p:spPr>
          <a:xfrm>
            <a:off x="731520" y="1737360"/>
            <a:ext cx="10728655" cy="4480560"/>
          </a:xfrm>
          <a:prstGeom prst="roundRect">
            <a:avLst/>
          </a:prstGeom>
          <a:solidFill>
            <a:srgbClr val="FFFFFF"/>
          </a:solidFill>
          <a:ln>
            <a:solidFill>
              <a:srgbClr val="D7D0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914400" y="1920240"/>
          <a:ext cx="10332720" cy="4023360"/>
        </p:xfrm>
        <a:graphic>
          <a:graphicData uri="http://schemas.openxmlformats.org/drawingml/2006/table">
            <a:tbl>
              <a:tblPr firstRow="1" bandRow="1">
                <a:tableStyleId>{5C22544A-7EE6-4342-B048-85BDC9FD1C3A}</a:tableStyleId>
              </a:tblPr>
              <a:tblGrid>
                <a:gridCol w="2011680"/>
                <a:gridCol w="1280160"/>
                <a:gridCol w="1463040"/>
                <a:gridCol w="1188720"/>
                <a:gridCol w="1371600"/>
                <a:gridCol w="1188720"/>
                <a:gridCol w="1828800"/>
              </a:tblGrid>
              <a:tr h="670560">
                <a:tc>
                  <a:txBody>
                    <a:bodyPr/>
                    <a:lstStyle/>
                    <a:p>
                      <a:pPr algn="ctr">
                        <a:defRPr sz="1000" b="1">
                          <a:solidFill>
                            <a:srgbClr val="FFFFFF"/>
                          </a:solidFill>
                          <a:latin typeface="Inter"/>
                        </a:defRPr>
                      </a:pPr>
                      <a:r>
                        <a:t>ALGORITHM</a:t>
                      </a:r>
                    </a:p>
                  </a:txBody>
                  <a:tcPr>
                    <a:solidFill>
                      <a:srgbClr val="241C1C"/>
                    </a:solidFill>
                  </a:tcPr>
                </a:tc>
                <a:tc>
                  <a:txBody>
                    <a:bodyPr/>
                    <a:lstStyle/>
                    <a:p>
                      <a:pPr algn="ctr">
                        <a:defRPr sz="1000" b="1">
                          <a:solidFill>
                            <a:srgbClr val="FFFFFF"/>
                          </a:solidFill>
                          <a:latin typeface="Inter"/>
                        </a:defRPr>
                      </a:pPr>
                      <a:r>
                        <a:t>PARADIGM</a:t>
                      </a:r>
                    </a:p>
                  </a:txBody>
                  <a:tcPr>
                    <a:solidFill>
                      <a:srgbClr val="241C1C"/>
                    </a:solidFill>
                  </a:tcPr>
                </a:tc>
                <a:tc>
                  <a:txBody>
                    <a:bodyPr/>
                    <a:lstStyle/>
                    <a:p>
                      <a:pPr algn="ctr">
                        <a:defRPr sz="1000" b="1">
                          <a:solidFill>
                            <a:srgbClr val="FFFFFF"/>
                          </a:solidFill>
                          <a:latin typeface="Inter"/>
                        </a:defRPr>
                      </a:pPr>
                      <a:r>
                        <a:t>TIME COMPLEXITY</a:t>
                      </a:r>
                    </a:p>
                  </a:txBody>
                  <a:tcPr>
                    <a:solidFill>
                      <a:srgbClr val="241C1C"/>
                    </a:solidFill>
                  </a:tcPr>
                </a:tc>
                <a:tc>
                  <a:txBody>
                    <a:bodyPr/>
                    <a:lstStyle/>
                    <a:p>
                      <a:pPr algn="ctr">
                        <a:defRPr sz="1000" b="1">
                          <a:solidFill>
                            <a:srgbClr val="FFFFFF"/>
                          </a:solidFill>
                          <a:latin typeface="Inter"/>
                        </a:defRPr>
                      </a:pPr>
                      <a:r>
                        <a:t>SPACE</a:t>
                      </a:r>
                    </a:p>
                  </a:txBody>
                  <a:tcPr>
                    <a:solidFill>
                      <a:srgbClr val="241C1C"/>
                    </a:solidFill>
                  </a:tcPr>
                </a:tc>
                <a:tc>
                  <a:txBody>
                    <a:bodyPr/>
                    <a:lstStyle/>
                    <a:p>
                      <a:pPr algn="ctr">
                        <a:defRPr sz="1000" b="1">
                          <a:solidFill>
                            <a:srgbClr val="FFFFFF"/>
                          </a:solidFill>
                          <a:latin typeface="Inter"/>
                        </a:defRPr>
                      </a:pPr>
                      <a:r>
                        <a:t>PROFIT / METRIC</a:t>
                      </a:r>
                    </a:p>
                  </a:txBody>
                  <a:tcPr>
                    <a:solidFill>
                      <a:srgbClr val="241C1C"/>
                    </a:solidFill>
                  </a:tcPr>
                </a:tc>
                <a:tc>
                  <a:txBody>
                    <a:bodyPr/>
                    <a:lstStyle/>
                    <a:p>
                      <a:pPr algn="ctr">
                        <a:defRPr sz="1000" b="1">
                          <a:solidFill>
                            <a:srgbClr val="FFFFFF"/>
                          </a:solidFill>
                          <a:latin typeface="Inter"/>
                        </a:defRPr>
                      </a:pPr>
                      <a:r>
                        <a:t>LATENCY</a:t>
                      </a:r>
                    </a:p>
                  </a:txBody>
                  <a:tcPr>
                    <a:solidFill>
                      <a:srgbClr val="241C1C"/>
                    </a:solidFill>
                  </a:tcPr>
                </a:tc>
                <a:tc>
                  <a:txBody>
                    <a:bodyPr/>
                    <a:lstStyle/>
                    <a:p>
                      <a:pPr algn="ctr">
                        <a:defRPr sz="1000" b="1">
                          <a:solidFill>
                            <a:srgbClr val="FFFFFF"/>
                          </a:solidFill>
                          <a:latin typeface="Inter"/>
                        </a:defRPr>
                      </a:pPr>
                      <a:r>
                        <a:t>PRACTICAL ROLE</a:t>
                      </a:r>
                    </a:p>
                  </a:txBody>
                  <a:tcPr>
                    <a:solidFill>
                      <a:srgbClr val="241C1C"/>
                    </a:solidFill>
                  </a:tcPr>
                </a:tc>
              </a:tr>
              <a:tr h="670560">
                <a:tc>
                  <a:txBody>
                    <a:bodyPr/>
                    <a:lstStyle/>
                    <a:p>
                      <a:pPr algn="l">
                        <a:defRPr sz="950" b="1">
                          <a:solidFill>
                            <a:srgbClr val="241C1C"/>
                          </a:solidFill>
                          <a:latin typeface="Inter"/>
                        </a:defRPr>
                      </a:pPr>
                      <a:r>
                        <a:t>0/1 Knapsack</a:t>
                      </a:r>
                    </a:p>
                  </a:txBody>
                  <a:tcPr>
                    <a:solidFill>
                      <a:srgbClr val="FFFFFF"/>
                    </a:solidFill>
                  </a:tcPr>
                </a:tc>
                <a:tc>
                  <a:txBody>
                    <a:bodyPr/>
                    <a:lstStyle/>
                    <a:p>
                      <a:pPr algn="ctr">
                        <a:defRPr sz="950" b="0">
                          <a:solidFill>
                            <a:srgbClr val="241C1C"/>
                          </a:solidFill>
                          <a:latin typeface="Inter"/>
                        </a:defRPr>
                      </a:pPr>
                      <a:r>
                        <a:t>Dynamic Prog.</a:t>
                      </a:r>
                    </a:p>
                  </a:txBody>
                  <a:tcPr>
                    <a:solidFill>
                      <a:srgbClr val="FFFFFF"/>
                    </a:solidFill>
                  </a:tcPr>
                </a:tc>
                <a:tc>
                  <a:txBody>
                    <a:bodyPr/>
                    <a:lstStyle/>
                    <a:p>
                      <a:pPr algn="ctr">
                        <a:defRPr sz="950" b="0">
                          <a:solidFill>
                            <a:srgbClr val="241C1C"/>
                          </a:solidFill>
                          <a:latin typeface="Inter"/>
                        </a:defRPr>
                      </a:pPr>
                      <a:r>
                        <a:t>O(n · W) Pseudo-poly</a:t>
                      </a:r>
                    </a:p>
                  </a:txBody>
                  <a:tcPr>
                    <a:solidFill>
                      <a:srgbClr val="FFFFFF"/>
                    </a:solidFill>
                  </a:tcPr>
                </a:tc>
                <a:tc>
                  <a:txBody>
                    <a:bodyPr/>
                    <a:lstStyle/>
                    <a:p>
                      <a:pPr algn="ctr">
                        <a:defRPr sz="950" b="0">
                          <a:solidFill>
                            <a:srgbClr val="241C1C"/>
                          </a:solidFill>
                          <a:latin typeface="Inter"/>
                        </a:defRPr>
                      </a:pPr>
                      <a:r>
                        <a:t>O(n · W)</a:t>
                      </a:r>
                    </a:p>
                  </a:txBody>
                  <a:tcPr>
                    <a:solidFill>
                      <a:srgbClr val="FFFFFF"/>
                    </a:solidFill>
                  </a:tcPr>
                </a:tc>
                <a:tc>
                  <a:txBody>
                    <a:bodyPr/>
                    <a:lstStyle/>
                    <a:p>
                      <a:pPr algn="ctr">
                        <a:defRPr sz="950" b="1">
                          <a:solidFill>
                            <a:srgbClr val="E85923"/>
                          </a:solidFill>
                          <a:latin typeface="Inter"/>
                        </a:defRPr>
                      </a:pPr>
                      <a:r>
                        <a:t>₹16,450 (100% Opt)</a:t>
                      </a:r>
                    </a:p>
                  </a:txBody>
                  <a:tcPr>
                    <a:solidFill>
                      <a:srgbClr val="FFFFFF"/>
                    </a:solidFill>
                  </a:tcPr>
                </a:tc>
                <a:tc>
                  <a:txBody>
                    <a:bodyPr/>
                    <a:lstStyle/>
                    <a:p>
                      <a:pPr algn="ctr">
                        <a:defRPr sz="950" b="0">
                          <a:solidFill>
                            <a:srgbClr val="241C1C"/>
                          </a:solidFill>
                          <a:latin typeface="Inter"/>
                        </a:defRPr>
                      </a:pPr>
                      <a:r>
                        <a:t>8.2 ms</a:t>
                      </a:r>
                    </a:p>
                  </a:txBody>
                  <a:tcPr>
                    <a:solidFill>
                      <a:srgbClr val="FFFFFF"/>
                    </a:solidFill>
                  </a:tcPr>
                </a:tc>
                <a:tc>
                  <a:txBody>
                    <a:bodyPr/>
                    <a:lstStyle/>
                    <a:p>
                      <a:pPr algn="l">
                        <a:defRPr sz="950" b="0">
                          <a:solidFill>
                            <a:srgbClr val="241C1C"/>
                          </a:solidFill>
                          <a:latin typeface="Inter"/>
                        </a:defRPr>
                      </a:pPr>
                      <a:r>
                        <a:t>Global Cargo Maximization</a:t>
                      </a:r>
                    </a:p>
                  </a:txBody>
                  <a:tcPr>
                    <a:solidFill>
                      <a:srgbClr val="FFFFFF"/>
                    </a:solidFill>
                  </a:tcPr>
                </a:tc>
              </a:tr>
              <a:tr h="670560">
                <a:tc>
                  <a:txBody>
                    <a:bodyPr/>
                    <a:lstStyle/>
                    <a:p>
                      <a:pPr algn="l">
                        <a:defRPr sz="950" b="1">
                          <a:solidFill>
                            <a:srgbClr val="241C1C"/>
                          </a:solidFill>
                          <a:latin typeface="Inter"/>
                        </a:defRPr>
                      </a:pPr>
                      <a:r>
                        <a:t>Profit Density</a:t>
                      </a:r>
                    </a:p>
                  </a:txBody>
                  <a:tcPr>
                    <a:solidFill>
                      <a:srgbClr val="F8F6F2"/>
                    </a:solidFill>
                  </a:tcPr>
                </a:tc>
                <a:tc>
                  <a:txBody>
                    <a:bodyPr/>
                    <a:lstStyle/>
                    <a:p>
                      <a:pPr algn="ctr">
                        <a:defRPr sz="950" b="0">
                          <a:solidFill>
                            <a:srgbClr val="241C1C"/>
                          </a:solidFill>
                          <a:latin typeface="Inter"/>
                        </a:defRPr>
                      </a:pPr>
                      <a:r>
                        <a:t>Greedy Heuristic</a:t>
                      </a:r>
                    </a:p>
                  </a:txBody>
                  <a:tcPr>
                    <a:solidFill>
                      <a:srgbClr val="F8F6F2"/>
                    </a:solidFill>
                  </a:tcPr>
                </a:tc>
                <a:tc>
                  <a:txBody>
                    <a:bodyPr/>
                    <a:lstStyle/>
                    <a:p>
                      <a:pPr algn="ctr">
                        <a:defRPr sz="950" b="0">
                          <a:solidFill>
                            <a:srgbClr val="241C1C"/>
                          </a:solidFill>
                          <a:latin typeface="Inter"/>
                        </a:defRPr>
                      </a:pPr>
                      <a:r>
                        <a:t>O(n log n)</a:t>
                      </a:r>
                    </a:p>
                  </a:txBody>
                  <a:tcPr>
                    <a:solidFill>
                      <a:srgbClr val="F8F6F2"/>
                    </a:solidFill>
                  </a:tcPr>
                </a:tc>
                <a:tc>
                  <a:txBody>
                    <a:bodyPr/>
                    <a:lstStyle/>
                    <a:p>
                      <a:pPr algn="ctr">
                        <a:defRPr sz="950" b="0">
                          <a:solidFill>
                            <a:srgbClr val="241C1C"/>
                          </a:solidFill>
                          <a:latin typeface="Inter"/>
                        </a:defRPr>
                      </a:pPr>
                      <a:r>
                        <a:t>O(n)</a:t>
                      </a:r>
                    </a:p>
                  </a:txBody>
                  <a:tcPr>
                    <a:solidFill>
                      <a:srgbClr val="F8F6F2"/>
                    </a:solidFill>
                  </a:tcPr>
                </a:tc>
                <a:tc>
                  <a:txBody>
                    <a:bodyPr/>
                    <a:lstStyle/>
                    <a:p>
                      <a:pPr algn="ctr">
                        <a:defRPr sz="950" b="1">
                          <a:solidFill>
                            <a:srgbClr val="E85923"/>
                          </a:solidFill>
                          <a:latin typeface="Inter"/>
                        </a:defRPr>
                      </a:pPr>
                      <a:r>
                        <a:t>₹15,200 (92.4% Opt)</a:t>
                      </a:r>
                    </a:p>
                  </a:txBody>
                  <a:tcPr>
                    <a:solidFill>
                      <a:srgbClr val="F8F6F2"/>
                    </a:solidFill>
                  </a:tcPr>
                </a:tc>
                <a:tc>
                  <a:txBody>
                    <a:bodyPr/>
                    <a:lstStyle/>
                    <a:p>
                      <a:pPr algn="ctr">
                        <a:defRPr sz="950" b="0">
                          <a:solidFill>
                            <a:srgbClr val="241C1C"/>
                          </a:solidFill>
                          <a:latin typeface="Inter"/>
                        </a:defRPr>
                      </a:pPr>
                      <a:r>
                        <a:t>0.4 ms</a:t>
                      </a:r>
                    </a:p>
                  </a:txBody>
                  <a:tcPr>
                    <a:solidFill>
                      <a:srgbClr val="F8F6F2"/>
                    </a:solidFill>
                  </a:tcPr>
                </a:tc>
                <a:tc>
                  <a:txBody>
                    <a:bodyPr/>
                    <a:lstStyle/>
                    <a:p>
                      <a:pPr algn="l">
                        <a:defRPr sz="950" b="0">
                          <a:solidFill>
                            <a:srgbClr val="241C1C"/>
                          </a:solidFill>
                          <a:latin typeface="Inter"/>
                        </a:defRPr>
                      </a:pPr>
                      <a:r>
                        <a:t>Rapid Cargo Dispatching</a:t>
                      </a:r>
                    </a:p>
                  </a:txBody>
                  <a:tcPr>
                    <a:solidFill>
                      <a:srgbClr val="F8F6F2"/>
                    </a:solidFill>
                  </a:tcPr>
                </a:tc>
              </a:tr>
              <a:tr h="670560">
                <a:tc>
                  <a:txBody>
                    <a:bodyPr/>
                    <a:lstStyle/>
                    <a:p>
                      <a:pPr algn="l">
                        <a:defRPr sz="950" b="1">
                          <a:solidFill>
                            <a:srgbClr val="241C1C"/>
                          </a:solidFill>
                          <a:latin typeface="Inter"/>
                        </a:defRPr>
                      </a:pPr>
                      <a:r>
                        <a:t>Highest Profit</a:t>
                      </a:r>
                    </a:p>
                  </a:txBody>
                  <a:tcPr>
                    <a:solidFill>
                      <a:srgbClr val="FFFFFF"/>
                    </a:solidFill>
                  </a:tcPr>
                </a:tc>
                <a:tc>
                  <a:txBody>
                    <a:bodyPr/>
                    <a:lstStyle/>
                    <a:p>
                      <a:pPr algn="ctr">
                        <a:defRPr sz="950" b="0">
                          <a:solidFill>
                            <a:srgbClr val="241C1C"/>
                          </a:solidFill>
                          <a:latin typeface="Inter"/>
                        </a:defRPr>
                      </a:pPr>
                      <a:r>
                        <a:t>Greedy Heuristic</a:t>
                      </a:r>
                    </a:p>
                  </a:txBody>
                  <a:tcPr>
                    <a:solidFill>
                      <a:srgbClr val="FFFFFF"/>
                    </a:solidFill>
                  </a:tcPr>
                </a:tc>
                <a:tc>
                  <a:txBody>
                    <a:bodyPr/>
                    <a:lstStyle/>
                    <a:p>
                      <a:pPr algn="ctr">
                        <a:defRPr sz="950" b="0">
                          <a:solidFill>
                            <a:srgbClr val="241C1C"/>
                          </a:solidFill>
                          <a:latin typeface="Inter"/>
                        </a:defRPr>
                      </a:pPr>
                      <a:r>
                        <a:t>O(n log n)</a:t>
                      </a:r>
                    </a:p>
                  </a:txBody>
                  <a:tcPr>
                    <a:solidFill>
                      <a:srgbClr val="FFFFFF"/>
                    </a:solidFill>
                  </a:tcPr>
                </a:tc>
                <a:tc>
                  <a:txBody>
                    <a:bodyPr/>
                    <a:lstStyle/>
                    <a:p>
                      <a:pPr algn="ctr">
                        <a:defRPr sz="950" b="0">
                          <a:solidFill>
                            <a:srgbClr val="241C1C"/>
                          </a:solidFill>
                          <a:latin typeface="Inter"/>
                        </a:defRPr>
                      </a:pPr>
                      <a:r>
                        <a:t>O(n)</a:t>
                      </a:r>
                    </a:p>
                  </a:txBody>
                  <a:tcPr>
                    <a:solidFill>
                      <a:srgbClr val="FFFFFF"/>
                    </a:solidFill>
                  </a:tcPr>
                </a:tc>
                <a:tc>
                  <a:txBody>
                    <a:bodyPr/>
                    <a:lstStyle/>
                    <a:p>
                      <a:pPr algn="ctr">
                        <a:defRPr sz="950" b="1">
                          <a:solidFill>
                            <a:srgbClr val="E85923"/>
                          </a:solidFill>
                          <a:latin typeface="Inter"/>
                        </a:defRPr>
                      </a:pPr>
                      <a:r>
                        <a:t>₹13,800 (83.9% Opt)</a:t>
                      </a:r>
                    </a:p>
                  </a:txBody>
                  <a:tcPr>
                    <a:solidFill>
                      <a:srgbClr val="FFFFFF"/>
                    </a:solidFill>
                  </a:tcPr>
                </a:tc>
                <a:tc>
                  <a:txBody>
                    <a:bodyPr/>
                    <a:lstStyle/>
                    <a:p>
                      <a:pPr algn="ctr">
                        <a:defRPr sz="950" b="0">
                          <a:solidFill>
                            <a:srgbClr val="241C1C"/>
                          </a:solidFill>
                          <a:latin typeface="Inter"/>
                        </a:defRPr>
                      </a:pPr>
                      <a:r>
                        <a:t>0.3 ms</a:t>
                      </a:r>
                    </a:p>
                  </a:txBody>
                  <a:tcPr>
                    <a:solidFill>
                      <a:srgbClr val="FFFFFF"/>
                    </a:solidFill>
                  </a:tcPr>
                </a:tc>
                <a:tc>
                  <a:txBody>
                    <a:bodyPr/>
                    <a:lstStyle/>
                    <a:p>
                      <a:pPr algn="l">
                        <a:defRPr sz="950" b="0">
                          <a:solidFill>
                            <a:srgbClr val="241C1C"/>
                          </a:solidFill>
                          <a:latin typeface="Inter"/>
                        </a:defRPr>
                      </a:pPr>
                      <a:r>
                        <a:t>Baseline Baseline Policy</a:t>
                      </a:r>
                    </a:p>
                  </a:txBody>
                  <a:tcPr>
                    <a:solidFill>
                      <a:srgbClr val="FFFFFF"/>
                    </a:solidFill>
                  </a:tcPr>
                </a:tc>
              </a:tr>
              <a:tr h="670560">
                <a:tc>
                  <a:txBody>
                    <a:bodyPr/>
                    <a:lstStyle/>
                    <a:p>
                      <a:pPr algn="l">
                        <a:defRPr sz="950" b="1">
                          <a:solidFill>
                            <a:srgbClr val="241C1C"/>
                          </a:solidFill>
                          <a:latin typeface="Inter"/>
                        </a:defRPr>
                      </a:pPr>
                      <a:r>
                        <a:t>Dijkstra's SSSP</a:t>
                      </a:r>
                    </a:p>
                  </a:txBody>
                  <a:tcPr>
                    <a:solidFill>
                      <a:srgbClr val="F8F6F2"/>
                    </a:solidFill>
                  </a:tcPr>
                </a:tc>
                <a:tc>
                  <a:txBody>
                    <a:bodyPr/>
                    <a:lstStyle/>
                    <a:p>
                      <a:pPr algn="ctr">
                        <a:defRPr sz="950" b="0">
                          <a:solidFill>
                            <a:srgbClr val="241C1C"/>
                          </a:solidFill>
                          <a:latin typeface="Inter"/>
                        </a:defRPr>
                      </a:pPr>
                      <a:r>
                        <a:t>Greedy (Min-Heap)</a:t>
                      </a:r>
                    </a:p>
                  </a:txBody>
                  <a:tcPr>
                    <a:solidFill>
                      <a:srgbClr val="F8F6F2"/>
                    </a:solidFill>
                  </a:tcPr>
                </a:tc>
                <a:tc>
                  <a:txBody>
                    <a:bodyPr/>
                    <a:lstStyle/>
                    <a:p>
                      <a:pPr algn="ctr">
                        <a:defRPr sz="950" b="0">
                          <a:solidFill>
                            <a:srgbClr val="241C1C"/>
                          </a:solidFill>
                          <a:latin typeface="Inter"/>
                        </a:defRPr>
                      </a:pPr>
                      <a:r>
                        <a:t>O((V + E) log V)</a:t>
                      </a:r>
                    </a:p>
                  </a:txBody>
                  <a:tcPr>
                    <a:solidFill>
                      <a:srgbClr val="F8F6F2"/>
                    </a:solidFill>
                  </a:tcPr>
                </a:tc>
                <a:tc>
                  <a:txBody>
                    <a:bodyPr/>
                    <a:lstStyle/>
                    <a:p>
                      <a:pPr algn="ctr">
                        <a:defRPr sz="950" b="0">
                          <a:solidFill>
                            <a:srgbClr val="241C1C"/>
                          </a:solidFill>
                          <a:latin typeface="Inter"/>
                        </a:defRPr>
                      </a:pPr>
                      <a:r>
                        <a:t>O(V)</a:t>
                      </a:r>
                    </a:p>
                  </a:txBody>
                  <a:tcPr>
                    <a:solidFill>
                      <a:srgbClr val="F8F6F2"/>
                    </a:solidFill>
                  </a:tcPr>
                </a:tc>
                <a:tc>
                  <a:txBody>
                    <a:bodyPr/>
                    <a:lstStyle/>
                    <a:p>
                      <a:pPr algn="ctr">
                        <a:defRPr sz="950" b="1">
                          <a:solidFill>
                            <a:srgbClr val="E85923"/>
                          </a:solidFill>
                          <a:latin typeface="Inter"/>
                        </a:defRPr>
                      </a:pPr>
                      <a:r>
                        <a:t>142.6 km Optimal Path</a:t>
                      </a:r>
                    </a:p>
                  </a:txBody>
                  <a:tcPr>
                    <a:solidFill>
                      <a:srgbClr val="F8F6F2"/>
                    </a:solidFill>
                  </a:tcPr>
                </a:tc>
                <a:tc>
                  <a:txBody>
                    <a:bodyPr/>
                    <a:lstStyle/>
                    <a:p>
                      <a:pPr algn="ctr">
                        <a:defRPr sz="950" b="0">
                          <a:solidFill>
                            <a:srgbClr val="241C1C"/>
                          </a:solidFill>
                          <a:latin typeface="Inter"/>
                        </a:defRPr>
                      </a:pPr>
                      <a:r>
                        <a:t>4.2 ms</a:t>
                      </a:r>
                    </a:p>
                  </a:txBody>
                  <a:tcPr>
                    <a:solidFill>
                      <a:srgbClr val="F8F6F2"/>
                    </a:solidFill>
                  </a:tcPr>
                </a:tc>
                <a:tc>
                  <a:txBody>
                    <a:bodyPr/>
                    <a:lstStyle/>
                    <a:p>
                      <a:pPr algn="l">
                        <a:defRPr sz="950" b="0">
                          <a:solidFill>
                            <a:srgbClr val="241C1C"/>
                          </a:solidFill>
                          <a:latin typeface="Inter"/>
                        </a:defRPr>
                      </a:pPr>
                      <a:r>
                        <a:t>Real-Time Fleet Navigation</a:t>
                      </a:r>
                    </a:p>
                  </a:txBody>
                  <a:tcPr>
                    <a:solidFill>
                      <a:srgbClr val="F8F6F2"/>
                    </a:solidFill>
                  </a:tcPr>
                </a:tc>
              </a:tr>
              <a:tr h="670560">
                <a:tc>
                  <a:txBody>
                    <a:bodyPr/>
                    <a:lstStyle/>
                    <a:p>
                      <a:pPr algn="l">
                        <a:defRPr sz="950" b="1">
                          <a:solidFill>
                            <a:srgbClr val="241C1C"/>
                          </a:solidFill>
                          <a:latin typeface="Inter"/>
                        </a:defRPr>
                      </a:pPr>
                      <a:r>
                        <a:t>Bellman-Ford</a:t>
                      </a:r>
                    </a:p>
                  </a:txBody>
                  <a:tcPr>
                    <a:solidFill>
                      <a:srgbClr val="FFFFFF"/>
                    </a:solidFill>
                  </a:tcPr>
                </a:tc>
                <a:tc>
                  <a:txBody>
                    <a:bodyPr/>
                    <a:lstStyle/>
                    <a:p>
                      <a:pPr algn="ctr">
                        <a:defRPr sz="950" b="0">
                          <a:solidFill>
                            <a:srgbClr val="241C1C"/>
                          </a:solidFill>
                          <a:latin typeface="Inter"/>
                        </a:defRPr>
                      </a:pPr>
                      <a:r>
                        <a:t>Dynamic Prog.</a:t>
                      </a:r>
                    </a:p>
                  </a:txBody>
                  <a:tcPr>
                    <a:solidFill>
                      <a:srgbClr val="FFFFFF"/>
                    </a:solidFill>
                  </a:tcPr>
                </a:tc>
                <a:tc>
                  <a:txBody>
                    <a:bodyPr/>
                    <a:lstStyle/>
                    <a:p>
                      <a:pPr algn="ctr">
                        <a:defRPr sz="950" b="0">
                          <a:solidFill>
                            <a:srgbClr val="241C1C"/>
                          </a:solidFill>
                          <a:latin typeface="Inter"/>
                        </a:defRPr>
                      </a:pPr>
                      <a:r>
                        <a:t>O(V · E)</a:t>
                      </a:r>
                    </a:p>
                  </a:txBody>
                  <a:tcPr>
                    <a:solidFill>
                      <a:srgbClr val="FFFFFF"/>
                    </a:solidFill>
                  </a:tcPr>
                </a:tc>
                <a:tc>
                  <a:txBody>
                    <a:bodyPr/>
                    <a:lstStyle/>
                    <a:p>
                      <a:pPr algn="ctr">
                        <a:defRPr sz="950" b="0">
                          <a:solidFill>
                            <a:srgbClr val="241C1C"/>
                          </a:solidFill>
                          <a:latin typeface="Inter"/>
                        </a:defRPr>
                      </a:pPr>
                      <a:r>
                        <a:t>O(V)</a:t>
                      </a:r>
                    </a:p>
                  </a:txBody>
                  <a:tcPr>
                    <a:solidFill>
                      <a:srgbClr val="FFFFFF"/>
                    </a:solidFill>
                  </a:tcPr>
                </a:tc>
                <a:tc>
                  <a:txBody>
                    <a:bodyPr/>
                    <a:lstStyle/>
                    <a:p>
                      <a:pPr algn="ctr">
                        <a:defRPr sz="950" b="1">
                          <a:solidFill>
                            <a:srgbClr val="E85923"/>
                          </a:solidFill>
                          <a:latin typeface="Inter"/>
                        </a:defRPr>
                      </a:pPr>
                      <a:r>
                        <a:t>142.6 km + Cycle Audit</a:t>
                      </a:r>
                    </a:p>
                  </a:txBody>
                  <a:tcPr>
                    <a:solidFill>
                      <a:srgbClr val="FFFFFF"/>
                    </a:solidFill>
                  </a:tcPr>
                </a:tc>
                <a:tc>
                  <a:txBody>
                    <a:bodyPr/>
                    <a:lstStyle/>
                    <a:p>
                      <a:pPr algn="ctr">
                        <a:defRPr sz="950" b="0">
                          <a:solidFill>
                            <a:srgbClr val="241C1C"/>
                          </a:solidFill>
                          <a:latin typeface="Inter"/>
                        </a:defRPr>
                      </a:pPr>
                      <a:r>
                        <a:t>18.7 ms</a:t>
                      </a:r>
                    </a:p>
                  </a:txBody>
                  <a:tcPr>
                    <a:solidFill>
                      <a:srgbClr val="FFFFFF"/>
                    </a:solidFill>
                  </a:tcPr>
                </a:tc>
                <a:tc>
                  <a:txBody>
                    <a:bodyPr/>
                    <a:lstStyle/>
                    <a:p>
                      <a:pPr algn="l">
                        <a:defRPr sz="950" b="0">
                          <a:solidFill>
                            <a:srgbClr val="241C1C"/>
                          </a:solidFill>
                          <a:latin typeface="Inter"/>
                        </a:defRPr>
                      </a:pPr>
                      <a:r>
                        <a:t>Congestion Penalty Audit</a:t>
                      </a:r>
                    </a:p>
                  </a:txBody>
                  <a:tcP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Rounded Rectangle 1"/>
          <p:cNvSpPr/>
          <p:nvPr/>
        </p:nvSpPr>
        <p:spPr>
          <a:xfrm>
            <a:off x="731520" y="548640"/>
            <a:ext cx="347472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SECTION 06 • FINAL OUTCOME &amp; RESULTS</a:t>
            </a:r>
          </a:p>
        </p:txBody>
      </p:sp>
      <p:sp>
        <p:nvSpPr>
          <p:cNvPr id="3" name="TextBox 2"/>
          <p:cNvSpPr txBox="1"/>
          <p:nvPr/>
        </p:nvSpPr>
        <p:spPr>
          <a:xfrm>
            <a:off x="731520" y="1005840"/>
            <a:ext cx="10698480" cy="640080"/>
          </a:xfrm>
          <a:prstGeom prst="rect">
            <a:avLst/>
          </a:prstGeom>
          <a:noFill/>
        </p:spPr>
        <p:txBody>
          <a:bodyPr wrap="square" lIns="0" tIns="0" rIns="0" bIns="0">
            <a:spAutoFit/>
          </a:bodyPr>
          <a:lstStyle/>
          <a:p>
            <a:pPr>
              <a:defRPr sz="3200" b="1">
                <a:solidFill>
                  <a:srgbClr val="241C1C"/>
                </a:solidFill>
                <a:latin typeface="The Seasons"/>
              </a:defRPr>
            </a:pPr>
            <a:r>
              <a:t>KEY QUANTITATIVE OUTCOMES &amp; FLEET IMPACT</a:t>
            </a:r>
          </a:p>
        </p:txBody>
      </p:sp>
      <p:pic>
        <p:nvPicPr>
          <p:cNvPr id="4" name="Picture 3" descr="gradient_square_1.png"/>
          <p:cNvPicPr>
            <a:picLocks noChangeAspect="1"/>
          </p:cNvPicPr>
          <p:nvPr/>
        </p:nvPicPr>
        <p:blipFill>
          <a:blip r:embed="rId2"/>
          <a:stretch>
            <a:fillRect/>
          </a:stretch>
        </p:blipFill>
        <p:spPr>
          <a:xfrm>
            <a:off x="731520" y="1737360"/>
            <a:ext cx="3328416" cy="2926080"/>
          </a:xfrm>
          <a:prstGeom prst="rect">
            <a:avLst/>
          </a:prstGeom>
        </p:spPr>
      </p:pic>
      <p:sp>
        <p:nvSpPr>
          <p:cNvPr id="5" name="TextBox 4"/>
          <p:cNvSpPr txBox="1"/>
          <p:nvPr/>
        </p:nvSpPr>
        <p:spPr>
          <a:xfrm>
            <a:off x="731520" y="4800600"/>
            <a:ext cx="3328416" cy="365760"/>
          </a:xfrm>
          <a:prstGeom prst="rect">
            <a:avLst/>
          </a:prstGeom>
          <a:noFill/>
        </p:spPr>
        <p:txBody>
          <a:bodyPr wrap="none">
            <a:spAutoFit/>
          </a:bodyPr>
          <a:lstStyle/>
          <a:p>
            <a:pPr algn="ctr">
              <a:defRPr sz="1700" b="1">
                <a:solidFill>
                  <a:srgbClr val="241C1C"/>
                </a:solidFill>
                <a:latin typeface="The Seasons"/>
              </a:defRPr>
            </a:pPr>
            <a:r>
              <a:t>+99.4% PROFIT CAPTURE</a:t>
            </a:r>
          </a:p>
        </p:txBody>
      </p:sp>
      <p:sp>
        <p:nvSpPr>
          <p:cNvPr id="6" name="Rounded Rectangle 5"/>
          <p:cNvSpPr/>
          <p:nvPr/>
        </p:nvSpPr>
        <p:spPr>
          <a:xfrm>
            <a:off x="914400" y="5212080"/>
            <a:ext cx="2962656" cy="292608"/>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850" b="1">
                <a:solidFill>
                  <a:srgbClr val="FFFFFF"/>
                </a:solidFill>
                <a:latin typeface="Inter"/>
              </a:defRPr>
            </a:pPr>
            <a:r>
              <a:t>0/1 KNAPSACK DOMINANCE</a:t>
            </a:r>
          </a:p>
        </p:txBody>
      </p:sp>
      <p:sp>
        <p:nvSpPr>
          <p:cNvPr id="7" name="TextBox 6"/>
          <p:cNvSpPr txBox="1"/>
          <p:nvPr/>
        </p:nvSpPr>
        <p:spPr>
          <a:xfrm>
            <a:off x="731520" y="5577840"/>
            <a:ext cx="3328416" cy="1005840"/>
          </a:xfrm>
          <a:prstGeom prst="rect">
            <a:avLst/>
          </a:prstGeom>
          <a:noFill/>
        </p:spPr>
        <p:txBody>
          <a:bodyPr wrap="square">
            <a:spAutoFit/>
          </a:bodyPr>
          <a:lstStyle/>
          <a:p>
            <a:pPr algn="ctr">
              <a:defRPr sz="850">
                <a:solidFill>
                  <a:srgbClr val="736964"/>
                </a:solidFill>
                <a:latin typeface="Inter"/>
              </a:defRPr>
            </a:pPr>
            <a:r>
              <a:t>0/1 KNAPSACK CAPTURED ₹16,450 IN REVENUE, OUTPERFORMING GREEDY HEURISTICS BY UP TO ₹2,650 PER TRIP (+16.1%). ELIMINATES PACKING VOIDS COMPLETELY.</a:t>
            </a:r>
          </a:p>
        </p:txBody>
      </p:sp>
      <p:pic>
        <p:nvPicPr>
          <p:cNvPr id="8" name="Picture 7" descr="gradient_square_2.png"/>
          <p:cNvPicPr>
            <a:picLocks noChangeAspect="1"/>
          </p:cNvPicPr>
          <p:nvPr/>
        </p:nvPicPr>
        <p:blipFill>
          <a:blip r:embed="rId3"/>
          <a:stretch>
            <a:fillRect/>
          </a:stretch>
        </p:blipFill>
        <p:spPr>
          <a:xfrm>
            <a:off x="4425696" y="1737360"/>
            <a:ext cx="3328416" cy="2926080"/>
          </a:xfrm>
          <a:prstGeom prst="rect">
            <a:avLst/>
          </a:prstGeom>
        </p:spPr>
      </p:pic>
      <p:sp>
        <p:nvSpPr>
          <p:cNvPr id="9" name="TextBox 8"/>
          <p:cNvSpPr txBox="1"/>
          <p:nvPr/>
        </p:nvSpPr>
        <p:spPr>
          <a:xfrm>
            <a:off x="4425696" y="4800600"/>
            <a:ext cx="3328416" cy="365760"/>
          </a:xfrm>
          <a:prstGeom prst="rect">
            <a:avLst/>
          </a:prstGeom>
          <a:noFill/>
        </p:spPr>
        <p:txBody>
          <a:bodyPr wrap="none">
            <a:spAutoFit/>
          </a:bodyPr>
          <a:lstStyle/>
          <a:p>
            <a:pPr algn="ctr">
              <a:defRPr sz="1700" b="1">
                <a:solidFill>
                  <a:srgbClr val="241C1C"/>
                </a:solidFill>
                <a:latin typeface="The Seasons"/>
              </a:defRPr>
            </a:pPr>
            <a:r>
              <a:t>-32.8% TRANSIT DISTANCE</a:t>
            </a:r>
          </a:p>
        </p:txBody>
      </p:sp>
      <p:sp>
        <p:nvSpPr>
          <p:cNvPr id="10" name="Rounded Rectangle 9"/>
          <p:cNvSpPr/>
          <p:nvPr/>
        </p:nvSpPr>
        <p:spPr>
          <a:xfrm>
            <a:off x="4608576" y="5212080"/>
            <a:ext cx="2962656" cy="292608"/>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850" b="1">
                <a:solidFill>
                  <a:srgbClr val="FFFFFF"/>
                </a:solidFill>
                <a:latin typeface="Inter"/>
              </a:defRPr>
            </a:pPr>
            <a:r>
              <a:t>DIJKSTRA MIN-HEAP FLEET ROUTING</a:t>
            </a:r>
          </a:p>
        </p:txBody>
      </p:sp>
      <p:sp>
        <p:nvSpPr>
          <p:cNvPr id="11" name="TextBox 10"/>
          <p:cNvSpPr txBox="1"/>
          <p:nvPr/>
        </p:nvSpPr>
        <p:spPr>
          <a:xfrm>
            <a:off x="4425696" y="5577840"/>
            <a:ext cx="3328416" cy="1005840"/>
          </a:xfrm>
          <a:prstGeom prst="rect">
            <a:avLst/>
          </a:prstGeom>
          <a:noFill/>
        </p:spPr>
        <p:txBody>
          <a:bodyPr wrap="square">
            <a:spAutoFit/>
          </a:bodyPr>
          <a:lstStyle/>
          <a:p>
            <a:pPr algn="ctr">
              <a:defRPr sz="850">
                <a:solidFill>
                  <a:srgbClr val="736964"/>
                </a:solidFill>
                <a:latin typeface="Inter"/>
              </a:defRPr>
            </a:pPr>
            <a:r>
              <a:t>DIJKSTRA'S SHORTEST PATH REDUCED TOTAL FLEET TRANSIT FROM 212.4 KM DOWN TO 142.6 KM ACROSS HYDERABAD CORRIDORS, REDUCING FUEL EXPENDITURES BY 24.5%.</a:t>
            </a:r>
          </a:p>
        </p:txBody>
      </p:sp>
      <p:pic>
        <p:nvPicPr>
          <p:cNvPr id="12" name="Picture 11" descr="gradient_square_3.png"/>
          <p:cNvPicPr>
            <a:picLocks noChangeAspect="1"/>
          </p:cNvPicPr>
          <p:nvPr/>
        </p:nvPicPr>
        <p:blipFill>
          <a:blip r:embed="rId4"/>
          <a:stretch>
            <a:fillRect/>
          </a:stretch>
        </p:blipFill>
        <p:spPr>
          <a:xfrm>
            <a:off x="8119872" y="1737360"/>
            <a:ext cx="3328416" cy="2926080"/>
          </a:xfrm>
          <a:prstGeom prst="rect">
            <a:avLst/>
          </a:prstGeom>
        </p:spPr>
      </p:pic>
      <p:sp>
        <p:nvSpPr>
          <p:cNvPr id="13" name="TextBox 12"/>
          <p:cNvSpPr txBox="1"/>
          <p:nvPr/>
        </p:nvSpPr>
        <p:spPr>
          <a:xfrm>
            <a:off x="8119872" y="4800600"/>
            <a:ext cx="3328416" cy="365760"/>
          </a:xfrm>
          <a:prstGeom prst="rect">
            <a:avLst/>
          </a:prstGeom>
          <a:noFill/>
        </p:spPr>
        <p:txBody>
          <a:bodyPr wrap="none">
            <a:spAutoFit/>
          </a:bodyPr>
          <a:lstStyle/>
          <a:p>
            <a:pPr algn="ctr">
              <a:defRPr sz="1700" b="1">
                <a:solidFill>
                  <a:srgbClr val="241C1C"/>
                </a:solidFill>
                <a:latin typeface="The Seasons"/>
              </a:defRPr>
            </a:pPr>
            <a:r>
              <a:t>SUB-10MS PIPELINE</a:t>
            </a:r>
          </a:p>
        </p:txBody>
      </p:sp>
      <p:sp>
        <p:nvSpPr>
          <p:cNvPr id="14" name="Rounded Rectangle 13"/>
          <p:cNvSpPr/>
          <p:nvPr/>
        </p:nvSpPr>
        <p:spPr>
          <a:xfrm>
            <a:off x="8302752" y="5212080"/>
            <a:ext cx="2962656" cy="292608"/>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850" b="1">
                <a:solidFill>
                  <a:srgbClr val="FFFFFF"/>
                </a:solidFill>
                <a:latin typeface="Inter"/>
              </a:defRPr>
            </a:pPr>
            <a:r>
              <a:t>BELLMAN-FORD VERIFICATION</a:t>
            </a:r>
          </a:p>
        </p:txBody>
      </p:sp>
      <p:sp>
        <p:nvSpPr>
          <p:cNvPr id="15" name="TextBox 14"/>
          <p:cNvSpPr txBox="1"/>
          <p:nvPr/>
        </p:nvSpPr>
        <p:spPr>
          <a:xfrm>
            <a:off x="8119872" y="5577840"/>
            <a:ext cx="3328416" cy="1005840"/>
          </a:xfrm>
          <a:prstGeom prst="rect">
            <a:avLst/>
          </a:prstGeom>
          <a:noFill/>
        </p:spPr>
        <p:txBody>
          <a:bodyPr wrap="square">
            <a:spAutoFit/>
          </a:bodyPr>
          <a:lstStyle/>
          <a:p>
            <a:pPr algn="ctr">
              <a:defRPr sz="850">
                <a:solidFill>
                  <a:srgbClr val="736964"/>
                </a:solidFill>
                <a:latin typeface="Inter"/>
              </a:defRPr>
            </a:pPr>
            <a:r>
              <a:t>ENTIRE TWO-PHASE SELECTION AND ROUTING PIPELINE COMPUTES IN UNDER 10 MILLISECONDS, MEETING STRICT SLA CRITERIA FOR DYNAMIC DELIVERY SYSTEMS.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pic>
        <p:nvPicPr>
          <p:cNvPr id="2" name="Picture 1" descr="gradient_vertical_lime.png"/>
          <p:cNvPicPr>
            <a:picLocks noChangeAspect="1"/>
          </p:cNvPicPr>
          <p:nvPr/>
        </p:nvPicPr>
        <p:blipFill>
          <a:blip r:embed="rId2"/>
          <a:stretch>
            <a:fillRect/>
          </a:stretch>
        </p:blipFill>
        <p:spPr>
          <a:xfrm>
            <a:off x="731520" y="685800"/>
            <a:ext cx="3840480" cy="5486400"/>
          </a:xfrm>
          <a:prstGeom prst="rect">
            <a:avLst/>
          </a:prstGeom>
        </p:spPr>
      </p:pic>
      <p:sp>
        <p:nvSpPr>
          <p:cNvPr id="3" name="Rounded Rectangle 2"/>
          <p:cNvSpPr/>
          <p:nvPr/>
        </p:nvSpPr>
        <p:spPr>
          <a:xfrm>
            <a:off x="5029200" y="685800"/>
            <a:ext cx="3108960" cy="347472"/>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950" b="1">
                <a:solidFill>
                  <a:srgbClr val="FFFFFF"/>
                </a:solidFill>
                <a:latin typeface="Inter"/>
              </a:defRPr>
            </a:pPr>
            <a:r>
              <a:t>PROJECT ATTRIBUTION &amp; CREDITS</a:t>
            </a:r>
          </a:p>
        </p:txBody>
      </p:sp>
      <p:sp>
        <p:nvSpPr>
          <p:cNvPr id="4" name="TextBox 3"/>
          <p:cNvSpPr txBox="1"/>
          <p:nvPr/>
        </p:nvSpPr>
        <p:spPr>
          <a:xfrm>
            <a:off x="5029200" y="1234440"/>
            <a:ext cx="6400800" cy="731520"/>
          </a:xfrm>
          <a:prstGeom prst="rect">
            <a:avLst/>
          </a:prstGeom>
          <a:noFill/>
        </p:spPr>
        <p:txBody>
          <a:bodyPr wrap="square" lIns="0" tIns="0" rIns="0" bIns="0">
            <a:spAutoFit/>
          </a:bodyPr>
          <a:lstStyle/>
          <a:p>
            <a:pPr>
              <a:defRPr sz="4200" b="1">
                <a:solidFill>
                  <a:srgbClr val="241C1C"/>
                </a:solidFill>
                <a:latin typeface="The Seasons"/>
              </a:defRPr>
            </a:pPr>
            <a:r>
              <a:t>PROJECT CREDITS</a:t>
            </a:r>
          </a:p>
        </p:txBody>
      </p:sp>
      <p:sp>
        <p:nvSpPr>
          <p:cNvPr id="5" name="TextBox 4"/>
          <p:cNvSpPr txBox="1"/>
          <p:nvPr/>
        </p:nvSpPr>
        <p:spPr>
          <a:xfrm>
            <a:off x="5029200" y="2103120"/>
            <a:ext cx="6400800" cy="4389120"/>
          </a:xfrm>
          <a:prstGeom prst="rect">
            <a:avLst/>
          </a:prstGeom>
          <a:noFill/>
        </p:spPr>
        <p:txBody>
          <a:bodyPr wrap="square">
            <a:spAutoFit/>
          </a:bodyPr>
          <a:lstStyle/>
          <a:p>
            <a:pPr>
              <a:defRPr sz="1100" b="1">
                <a:solidFill>
                  <a:srgbClr val="E85923"/>
                </a:solidFill>
                <a:latin typeface="Inter"/>
              </a:defRPr>
            </a:pPr>
            <a:r>
              <a:t>COURSE INSTRUCTOR &amp; MENTOR:</a:t>
            </a:r>
          </a:p>
          <a:p>
            <a:pPr>
              <a:defRPr sz="2400" b="1">
                <a:solidFill>
                  <a:srgbClr val="241C1C"/>
                </a:solidFill>
                <a:latin typeface="The Seasons"/>
              </a:defRPr>
            </a:pPr>
            <a:r>
              <a:t>Dr. Syed Javed Pasha</a:t>
            </a:r>
          </a:p>
          <a:p>
            <a:pPr>
              <a:defRPr sz="1050">
                <a:solidFill>
                  <a:srgbClr val="736964"/>
                </a:solidFill>
                <a:latin typeface="Inter"/>
              </a:defRPr>
            </a:pPr>
            <a:r>
              <a:t>Course Coordinator &amp; Project Mentor • Department of Computer Science &amp; Engineering</a:t>
            </a:r>
            <a:br/>
            <a:r>
              <a:t>Woxsen University, School of Technology</a:t>
            </a:r>
            <a:br/>
          </a:p>
          <a:p>
            <a:pPr>
              <a:defRPr sz="1100" b="1">
                <a:solidFill>
                  <a:srgbClr val="E85923"/>
                </a:solidFill>
                <a:latin typeface="Inter"/>
              </a:defRPr>
            </a:pPr>
            <a:r>
              <a:t>STUDENT PROJECT TEAM:</a:t>
            </a:r>
          </a:p>
          <a:p>
            <a:pPr>
              <a:defRPr sz="1100">
                <a:solidFill>
                  <a:srgbClr val="241C1C"/>
                </a:solidFill>
                <a:latin typeface="Inter"/>
              </a:defRPr>
            </a:pPr>
            <a:r>
              <a:t>• Himanshu Pandit  —  Lead System Architect &amp; Algorithm Engineer</a:t>
            </a:r>
          </a:p>
          <a:p>
            <a:pPr>
              <a:defRPr sz="1100">
                <a:solidFill>
                  <a:srgbClr val="241C1C"/>
                </a:solidFill>
                <a:latin typeface="Inter"/>
              </a:defRPr>
            </a:pPr>
            <a:r>
              <a:t>• Devyani Pawar  —  Graph &amp; Network Modeling Specialist</a:t>
            </a:r>
          </a:p>
          <a:p>
            <a:pPr>
              <a:defRPr sz="1100">
                <a:solidFill>
                  <a:srgbClr val="241C1C"/>
                </a:solidFill>
                <a:latin typeface="Inter"/>
              </a:defRPr>
            </a:pPr>
            <a:r>
              <a:t>• Heman  —  Dynamic Programming &amp; Benchmark Developer</a:t>
            </a:r>
          </a:p>
          <a:p>
            <a:pPr>
              <a:defRPr sz="1100">
                <a:solidFill>
                  <a:srgbClr val="241C1C"/>
                </a:solidFill>
                <a:latin typeface="Inter"/>
              </a:defRPr>
            </a:pPr>
            <a:r>
              <a:t>• Rimika Jain  —  Heuristic Optimization &amp; UI Integration</a:t>
            </a:r>
          </a:p>
        </p:txBody>
      </p:sp>
      <p:pic>
        <p:nvPicPr>
          <p:cNvPr id="6" name="Picture 5" descr="gradient_slim_pill.png"/>
          <p:cNvPicPr>
            <a:picLocks noChangeAspect="1"/>
          </p:cNvPicPr>
          <p:nvPr/>
        </p:nvPicPr>
        <p:blipFill>
          <a:blip r:embed="rId3"/>
          <a:stretch>
            <a:fillRect/>
          </a:stretch>
        </p:blipFill>
        <p:spPr>
          <a:xfrm>
            <a:off x="11612880" y="685800"/>
            <a:ext cx="164592" cy="54864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9E4DB"/>
        </a:solidFill>
        <a:effectLst/>
      </p:bgPr>
    </p:bg>
    <p:spTree>
      <p:nvGrpSpPr>
        <p:cNvPr id="1" name=""/>
        <p:cNvGrpSpPr/>
        <p:nvPr/>
      </p:nvGrpSpPr>
      <p:grpSpPr/>
      <p:sp>
        <p:nvSpPr>
          <p:cNvPr id="2" name="TextBox 1"/>
          <p:cNvSpPr txBox="1"/>
          <p:nvPr/>
        </p:nvSpPr>
        <p:spPr>
          <a:xfrm>
            <a:off x="4114800" y="1097280"/>
            <a:ext cx="7315200" cy="914400"/>
          </a:xfrm>
          <a:prstGeom prst="rect">
            <a:avLst/>
          </a:prstGeom>
          <a:noFill/>
        </p:spPr>
        <p:txBody>
          <a:bodyPr wrap="square" lIns="0" tIns="0" rIns="0" bIns="0">
            <a:spAutoFit/>
          </a:bodyPr>
          <a:lstStyle/>
          <a:p>
            <a:pPr>
              <a:defRPr sz="5200" b="1">
                <a:solidFill>
                  <a:srgbClr val="241C1C"/>
                </a:solidFill>
                <a:latin typeface="The Seasons"/>
              </a:defRPr>
            </a:pPr>
            <a:r>
              <a:t>THANK YOU</a:t>
            </a:r>
          </a:p>
        </p:txBody>
      </p:sp>
      <p:sp>
        <p:nvSpPr>
          <p:cNvPr id="3" name="TextBox 2"/>
          <p:cNvSpPr txBox="1"/>
          <p:nvPr/>
        </p:nvSpPr>
        <p:spPr>
          <a:xfrm>
            <a:off x="4114800" y="2011680"/>
            <a:ext cx="7315200" cy="548640"/>
          </a:xfrm>
          <a:prstGeom prst="rect">
            <a:avLst/>
          </a:prstGeom>
          <a:noFill/>
        </p:spPr>
        <p:txBody>
          <a:bodyPr wrap="none">
            <a:spAutoFit/>
          </a:bodyPr>
          <a:lstStyle/>
          <a:p>
            <a:pPr>
              <a:defRPr sz="1150" b="1">
                <a:solidFill>
                  <a:srgbClr val="736964"/>
                </a:solidFill>
                <a:latin typeface="Inter"/>
              </a:defRPr>
            </a:pPr>
            <a:r>
              <a:t>SMARTROUTE: ALGORITHMIC OPTIMIZATION FOR LAST-MILE LOGISTICS</a:t>
            </a:r>
          </a:p>
        </p:txBody>
      </p:sp>
      <p:pic>
        <p:nvPicPr>
          <p:cNvPr id="4" name="Picture 3" descr="gradient_horizontal_banner.png"/>
          <p:cNvPicPr>
            <a:picLocks noChangeAspect="1"/>
          </p:cNvPicPr>
          <p:nvPr/>
        </p:nvPicPr>
        <p:blipFill>
          <a:blip r:embed="rId2"/>
          <a:stretch>
            <a:fillRect/>
          </a:stretch>
        </p:blipFill>
        <p:spPr>
          <a:xfrm>
            <a:off x="731520" y="2926080"/>
            <a:ext cx="10728655" cy="2560320"/>
          </a:xfrm>
          <a:prstGeom prst="rect">
            <a:avLst/>
          </a:prstGeom>
        </p:spPr>
      </p:pic>
      <p:sp>
        <p:nvSpPr>
          <p:cNvPr id="5" name="Rounded Rectangle 4"/>
          <p:cNvSpPr/>
          <p:nvPr/>
        </p:nvSpPr>
        <p:spPr>
          <a:xfrm>
            <a:off x="731520" y="5760720"/>
            <a:ext cx="5303520" cy="365760"/>
          </a:xfrm>
          <a:prstGeom prst="roundRect">
            <a:avLst/>
          </a:prstGeom>
          <a:solidFill>
            <a:srgbClr val="241C1C"/>
          </a:solidFill>
          <a:ln>
            <a:noFill/>
          </a:ln>
        </p:spPr>
        <p:style>
          <a:lnRef idx="1">
            <a:schemeClr val="accent1"/>
          </a:lnRef>
          <a:fillRef idx="3">
            <a:schemeClr val="accent1"/>
          </a:fillRef>
          <a:effectRef idx="2">
            <a:schemeClr val="accent1"/>
          </a:effectRef>
          <a:fontRef idx="minor">
            <a:schemeClr val="lt1"/>
          </a:fontRef>
        </p:style>
        <p:txBody>
          <a:bodyPr rtlCol="0" anchor="ctr" wrap="none" lIns="109728" rIns="109728" tIns="36576" bIns="36576"/>
          <a:lstStyle/>
          <a:p>
            <a:pPr algn="ctr">
              <a:defRPr sz="1000" b="1">
                <a:solidFill>
                  <a:srgbClr val="FFFFFF"/>
                </a:solidFill>
                <a:latin typeface="Inter"/>
              </a:defRPr>
            </a:pPr>
            <a:r>
              <a:t>OPEN FOR FACULTY VIVA VOCE QUESTIONS &amp; ALGORITHM DEFENSE</a:t>
            </a:r>
          </a:p>
        </p:txBody>
      </p:sp>
      <p:sp>
        <p:nvSpPr>
          <p:cNvPr id="6" name="TextBox 5"/>
          <p:cNvSpPr txBox="1"/>
          <p:nvPr/>
        </p:nvSpPr>
        <p:spPr>
          <a:xfrm>
            <a:off x="6583680" y="5760720"/>
            <a:ext cx="4846320" cy="365760"/>
          </a:xfrm>
          <a:prstGeom prst="rect">
            <a:avLst/>
          </a:prstGeom>
          <a:noFill/>
        </p:spPr>
        <p:txBody>
          <a:bodyPr wrap="none">
            <a:spAutoFit/>
          </a:bodyPr>
          <a:lstStyle/>
          <a:p>
            <a:pPr algn="r">
              <a:defRPr sz="1000">
                <a:solidFill>
                  <a:srgbClr val="241C1C"/>
                </a:solidFill>
                <a:latin typeface="Inter"/>
              </a:defRPr>
            </a:pPr>
            <a:r>
              <a:t>GITHUB: https://github.com/Himanshu-Git-101/DAA_PBL   |   WOXSEN UNIVERSITY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