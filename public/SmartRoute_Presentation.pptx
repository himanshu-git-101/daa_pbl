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cov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10728655" cy="3017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7033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241C1C"/>
                </a:solidFill>
                <a:latin typeface="The Seasons"/>
              </a:defRPr>
            </a:pPr>
            <a:r>
              <a:t>SMARTROUTE: ALGORITHMIC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09160"/>
            <a:ext cx="658368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DATA STRUCTURES &amp; ALGORITHMS • COMPARATIVE RESEARCH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5923"/>
                </a:solidFill>
                <a:latin typeface="Inter"/>
              </a:defRPr>
            </a:pPr>
            <a:r>
              <a:t>0/1 KNAPSACK (DP)  •  GREEDY HEURISTICS  •  DIJKSTRA'S SSSP  •  BELLMAN-FORD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1C1C"/>
                </a:solidFill>
                <a:latin typeface="Inter"/>
              </a:defRPr>
            </a:pPr>
            <a:r>
              <a:t>COURSE INSTRUCTOR: DR. SYED JAVED PASHA   |   TEAM: HIMANSHU PANDIT • DEVYANI PAWAR • HEMAN • RIMIKA JAIN   |   WOXSEN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da_roadmap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4114800" cy="5623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2080" y="59436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241C1C"/>
                </a:solidFill>
                <a:latin typeface="The Seasons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508760"/>
            <a:ext cx="402336" cy="402336"/>
          </a:xfrm>
          <a:prstGeom prst="ellipse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1463039"/>
            <a:ext cx="56692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INTRODUCTION</a:t>
            </a:r>
          </a:p>
          <a:p>
            <a:pPr>
              <a:defRPr sz="1150">
                <a:solidFill>
                  <a:srgbClr val="645A55"/>
                </a:solidFill>
                <a:latin typeface="Inter"/>
              </a:defRPr>
            </a:pPr>
            <a:r>
              <a:t>Urban last-mile logistics context &amp; the 4 core DAA pillars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313432"/>
            <a:ext cx="402336" cy="402336"/>
          </a:xfrm>
          <a:prstGeom prst="ellipse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267712"/>
            <a:ext cx="56692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PROBLEM STATEMENT</a:t>
            </a:r>
          </a:p>
          <a:p>
            <a:pPr>
              <a:defRPr sz="1150">
                <a:solidFill>
                  <a:srgbClr val="645A55"/>
                </a:solidFill>
                <a:latin typeface="Inter"/>
              </a:defRPr>
            </a:pPr>
            <a:r>
              <a:t>Dual bottleneck: combinatorial packing &amp; congested routing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118103"/>
            <a:ext cx="402336" cy="402336"/>
          </a:xfrm>
          <a:prstGeom prst="ellipse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3072384"/>
            <a:ext cx="56692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LITERATURE REVIEW</a:t>
            </a:r>
          </a:p>
          <a:p>
            <a:pPr>
              <a:defRPr sz="1150">
                <a:solidFill>
                  <a:srgbClr val="645A55"/>
                </a:solidFill>
                <a:latin typeface="Inter"/>
              </a:defRPr>
            </a:pPr>
            <a:r>
              <a:t>Theoretical foundations: Bellman, Dantzig, Dijkstra, and Ford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3922776"/>
            <a:ext cx="402336" cy="402336"/>
          </a:xfrm>
          <a:prstGeom prst="ellipse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877056"/>
            <a:ext cx="56692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METHODOLOGY</a:t>
            </a:r>
          </a:p>
          <a:p>
            <a:pPr>
              <a:defRPr sz="1150">
                <a:solidFill>
                  <a:srgbClr val="645A55"/>
                </a:solidFill>
                <a:latin typeface="Inter"/>
              </a:defRPr>
            </a:pPr>
            <a:r>
              <a:t>Mathematical formulations of Knapsack, Greedy, Dijkstra &amp; Bellman-Ford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4727448"/>
            <a:ext cx="402336" cy="402336"/>
          </a:xfrm>
          <a:prstGeom prst="ellipse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681728"/>
            <a:ext cx="56692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SOLUTION &amp; PROTOTYPE</a:t>
            </a:r>
          </a:p>
          <a:p>
            <a:pPr>
              <a:defRPr sz="1150">
                <a:solidFill>
                  <a:srgbClr val="645A55"/>
                </a:solidFill>
                <a:latin typeface="Inter"/>
              </a:defRPr>
            </a:pPr>
            <a:r>
              <a:t>SmartRoute dual-engine architecture &amp; live Google Maps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5212080" y="5532120"/>
            <a:ext cx="402336" cy="402336"/>
          </a:xfrm>
          <a:prstGeom prst="ellipse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5486400"/>
            <a:ext cx="56692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FINAL OUTCOME / RESULTS</a:t>
            </a:r>
          </a:p>
          <a:p>
            <a:pPr>
              <a:defRPr sz="1150">
                <a:solidFill>
                  <a:srgbClr val="645A55"/>
                </a:solidFill>
                <a:latin typeface="Inter"/>
              </a:defRPr>
            </a:pPr>
            <a:r>
              <a:t>Empirical benchmark matrix, distance savings &amp; viva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74320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41C1C"/>
                </a:solidFill>
                <a:latin typeface="The Seasons"/>
              </a:defRPr>
            </a:pPr>
            <a:r>
              <a:t>WHAT IS SMARTROUTE?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923"/>
                </a:solidFill>
                <a:latin typeface="Inter"/>
              </a:defRPr>
            </a:pPr>
            <a:r>
              <a:t>BRIDGING CLASSICAL DAA PARADIGMS WITH REAL-WORLD LOGISTICS OPTIMIZATION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• Last-Mile Significance: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Accounts for over 53% of total delivery logistics expenditure in urban supply chains.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• Real-World Complexity: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Managing 35+ demand locations across Hyderabad (Begumpet, HITEC City, Gachibowli, Secunderabad, Woxsen University).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• Academic Focus: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Benchmarking discrete optimization (0/1 Knapsack &amp; Greedy) against shortest path graph algorithms (Dijkstra &amp; Bellman-Ford).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• Production Deliverable: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A live interactive dashboard with step-by-step Min-Heap playback and 2D DP cell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51560"/>
            <a:ext cx="49377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eration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34440"/>
            <a:ext cx="45720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5715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41C1C"/>
                </a:solidFill>
                <a:latin typeface="Inter"/>
              </a:defRPr>
            </a:pPr>
            <a:r>
              <a:t>Live Interactive Google Maps Interface (Hyderabad Network)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74320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241C1C"/>
                </a:solidFill>
                <a:latin typeface="The Seasons"/>
              </a:defRPr>
            </a:pPr>
            <a:r>
              <a:t>THE FOUR CORE DAA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01. KNAPSACK (DP)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Complexity: O(n · W) Pseudo-poly</a:t>
            </a:r>
          </a:p>
          <a:p>
            <a:pPr>
              <a:defRPr sz="1100" b="1">
                <a:solidFill>
                  <a:srgbClr val="4D7C0F"/>
                </a:solidFill>
                <a:latin typeface="Inter"/>
              </a:defRPr>
            </a:pPr>
            <a:r>
              <a:t>Paradigm: Global Optimum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• Solves discrete 0/1 order selection within payload limit W.</a:t>
            </a:r>
            <a:br/>
            <a:r>
              <a:t>• 2D memoization table guarantees zero wasted space.</a:t>
            </a:r>
            <a:br/>
            <a:r>
              <a:t>• Backtracking golden trail identifies exact parcel bundle.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737360"/>
            <a:ext cx="2468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02. GREEDY HEURISTICS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Complexity: O(n log n) Sort Time</a:t>
            </a:r>
          </a:p>
          <a:p>
            <a:pPr>
              <a:defRPr sz="1100" b="1">
                <a:solidFill>
                  <a:srgbClr val="4D7C0F"/>
                </a:solidFill>
                <a:latin typeface="Inter"/>
              </a:defRPr>
            </a:pPr>
            <a:r>
              <a:t>Paradigm: Fast Approximation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• Priority sorting by Profit Density (Rs./kg), Deadline, Profit.</a:t>
            </a:r>
            <a:br/>
            <a:r>
              <a:t>• Fast heuristic execution in under 0.5 ms.</a:t>
            </a:r>
            <a:br/>
            <a:r>
              <a:t>• Prone to greedy traps for integer discrete cargo.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2468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03. DIJKSTRA SSSP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Complexity: O((V + E) log V)</a:t>
            </a:r>
          </a:p>
          <a:p>
            <a:pPr>
              <a:defRPr sz="1100" b="1">
                <a:solidFill>
                  <a:srgbClr val="4D7C0F"/>
                </a:solidFill>
                <a:latin typeface="Inter"/>
              </a:defRPr>
            </a:pPr>
            <a:r>
              <a:t>Paradigm: Single-Source Shortest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• Custom Binary Min-Heap Priority Queue implementation.</a:t>
            </a:r>
            <a:br/>
            <a:r>
              <a:t>• Invariant: Greedily finalizes vertex with minimum tentative dist.</a:t>
            </a:r>
            <a:br/>
            <a:r>
              <a:t>• Optimal routing across non-negative urban road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737360"/>
            <a:ext cx="24688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01168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04. BELLMAN-FORD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Complexity: O(V · E) Iterative DP</a:t>
            </a:r>
          </a:p>
          <a:p>
            <a:pPr>
              <a:defRPr sz="1100" b="1">
                <a:solidFill>
                  <a:srgbClr val="4D7C0F"/>
                </a:solidFill>
                <a:latin typeface="Inter"/>
              </a:defRPr>
            </a:pPr>
            <a:r>
              <a:t>Paradigm: Dynamic Edge Relaxation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• Relaxes all |E| edges for |V|-1 iterations.</a:t>
            </a:r>
            <a:br/>
            <a:r>
              <a:t>• Models congestion penalties, toll rebates &amp; detours.</a:t>
            </a:r>
            <a:br/>
            <a:r>
              <a:t>• Detects negative-weight loops preventing routing anomalies.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rban_problem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4114800" cy="5623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12080" y="594360"/>
            <a:ext cx="310896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02 •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105156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41C1C"/>
                </a:solidFill>
                <a:latin typeface="The Seasons"/>
              </a:defRPr>
            </a:pPr>
            <a:r>
              <a:t>THE DUAL BOTTLENECK IN URBAN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201168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923"/>
                </a:solidFill>
                <a:latin typeface="Inter"/>
              </a:defRPr>
            </a:pPr>
            <a:r>
              <a:t>TWO MATHEMATICAL HURDLES IN SCALABLE DISPATCHING: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1. Combinatorial Cargo Explosion: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With 35+ customer orders and strict vehicle weight limits (e.g. 100 kg), evaluating all 2^35 (34.3 billion) order subsets is impossible. Naive heuristics cause payload voids and lost revenue.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2. Spatial Route Inefficiencies: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Hyderabad's congested road network demands optimal waypoint sequencing. Suboptimal routing causes 69+ km excess transit and severe fuel waste.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3. Real-Time Operational Latency: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Algorithms must run in sub-50 milliseconds to handle continuous live dispatch requests.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310896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02 •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241C1C"/>
                </a:solidFill>
                <a:latin typeface="The Seasons"/>
              </a:defRPr>
            </a:pPr>
            <a:r>
              <a:t>ALGORITHMIC TRADE-OFF TRILEMMA</a:t>
            </a:r>
          </a:p>
        </p:txBody>
      </p:sp>
      <p:pic>
        <p:nvPicPr>
          <p:cNvPr id="4" name="Picture 3" descr="diag_knapsack_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328416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16636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1C1C"/>
                </a:solidFill>
                <a:latin typeface="Inter"/>
              </a:defRPr>
            </a:pPr>
            <a:r>
              <a:t>CAPACITY PACKING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0/1 KNAPSACK PROBLEM  —  Discrete orders cannot be split. 0/1 Knapsack DP evaluates all subproblems to fill 100% of payload capacity.</a:t>
            </a:r>
          </a:p>
        </p:txBody>
      </p:sp>
      <p:pic>
        <p:nvPicPr>
          <p:cNvPr id="6" name="Picture 5" descr="diag_greedy_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737360"/>
            <a:ext cx="3328416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25696" y="516636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1C1C"/>
                </a:solidFill>
                <a:latin typeface="Inter"/>
              </a:defRPr>
            </a:pPr>
            <a:r>
              <a:t>HEURISTIC TRAP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GREEDY APPROXIMATION  —  Greedy ratio sorting commits to small items first, leaving capacity voids and losing up to Rs. 2,650 in revenue.</a:t>
            </a:r>
          </a:p>
        </p:txBody>
      </p:sp>
      <p:pic>
        <p:nvPicPr>
          <p:cNvPr id="8" name="Picture 7" descr="diag_routing_dilem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737360"/>
            <a:ext cx="3328416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19872" y="516636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1C1C"/>
                </a:solidFill>
                <a:latin typeface="Inter"/>
              </a:defRPr>
            </a:pPr>
            <a:r>
              <a:t>SPATIAL ROUTING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DIJKSTRA VS BELLMAN-FORD  —  Dijkstra provides ultra-fast O((V+E)logV) navigation; Bellman-Ford audits negative congestion cycles.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92608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03 •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241C1C"/>
                </a:solidFill>
                <a:latin typeface="The Seasons"/>
              </a:defRPr>
            </a:pPr>
            <a:r>
              <a:t>THEORETICAL LITERATURE FOUNDATIONS</a:t>
            </a:r>
          </a:p>
        </p:txBody>
      </p:sp>
      <p:pic>
        <p:nvPicPr>
          <p:cNvPr id="4" name="Picture 3" descr="literature_timelin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07492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E85923"/>
                </a:solidFill>
                <a:latin typeface="Inter"/>
              </a:defRPr>
            </a:pPr>
            <a:r>
              <a:t>Key Finding 1: Dynamic Programming Optimality</a:t>
            </a:r>
          </a:p>
          <a:p>
            <a:pPr>
              <a:defRPr sz="1100">
                <a:solidFill>
                  <a:srgbClr val="241C1C"/>
                </a:solidFill>
                <a:latin typeface="Inter"/>
              </a:defRPr>
            </a:pPr>
            <a:r>
              <a:t>Bellman (1957) proved that optimal decisions decompose into subproblems. Martello &amp; Toth (1990) established the 2D memoization recurrence for discrete 0/1 knapsacks.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507492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96B4"/>
                </a:solidFill>
                <a:latin typeface="Inter"/>
              </a:defRPr>
            </a:pPr>
            <a:r>
              <a:t>Key Finding 2: Shortest-Path Graph Duality</a:t>
            </a:r>
          </a:p>
          <a:p>
            <a:pPr>
              <a:defRPr sz="1100">
                <a:solidFill>
                  <a:srgbClr val="241C1C"/>
                </a:solidFill>
                <a:latin typeface="Inter"/>
              </a:defRPr>
            </a:pPr>
            <a:r>
              <a:t>Dijkstra (1959) established greedy min-heap expansion for non-negative road graphs. Bellman-Ford (1958) generalized shortest paths via DP edge relaxations with cycle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74320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04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241C1C"/>
                </a:solidFill>
                <a:latin typeface="The Seasons"/>
              </a:defRPr>
            </a:pPr>
            <a:r>
              <a:t>TWO-PHASE ALGORITHMIC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685800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INPUT: 35+ HYDERABAD ORDERS  ➔  PHASE 1: PACKING ENGINE (KNAPSACK / GREEDY)  ➔  PHASE 2: SPATIAL ROUTING (DIJKSTRA / BELLMAN-FORD)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PHASE 1: DEMAND &amp; GRAPH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HYDERABAD ADJACENCY MATRIX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• Central Hub: Main Parcel Warehouse (Begumpet)</a:t>
            </a:r>
            <a:br/>
            <a:r>
              <a:t>• 35+ Delivery Request Nodes across Hyderabad</a:t>
            </a:r>
            <a:br/>
            <a:r>
              <a:t>• Vehicle Payload Constraints: Van (100 kg), EV Bike (30 kg)</a:t>
            </a:r>
            <a:br/>
            <a:r>
              <a:t>• Graph Matrix: Edge weights = road distance + traffic delay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65176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PHASE 2A: CARGO SELECTION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0/1 KNAPSACK VS GREEDY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• Run 0/1 Knapsack DP: Fills 100% capacity (Rs. 16,450)</a:t>
            </a:r>
            <a:br/>
            <a:r>
              <a:t>• Run Profit Density Greedy (p/w): Fast sorting (Rs. 15,200)</a:t>
            </a:r>
            <a:br/>
            <a:r>
              <a:t>• Run Earliest Deadline First (EDF) for urgent SLAs</a:t>
            </a:r>
            <a:br/>
            <a:r>
              <a:t>• Evaluate revenue capture and packing efficiency gaps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65176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PHASE 2B: ROUTING SYNTHESIS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DIJKSTRA &amp; BELLMAN-FORD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• Dijkstra SSSP via Binary Min-Heap Priority Queue</a:t>
            </a:r>
            <a:br/>
            <a:r>
              <a:t>• Bellman-Ford audits negative traffic congestion cycles</a:t>
            </a:r>
            <a:br/>
            <a:r>
              <a:t>• Construct optimal turn-by-turn waypoint sequences</a:t>
            </a:r>
            <a:br/>
            <a:r>
              <a:t>• Live dispatch telemetry streamed to Google Maps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74320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04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41C1C"/>
                </a:solidFill>
                <a:latin typeface="The Seasons"/>
              </a:defRPr>
            </a:pPr>
            <a:r>
              <a:t>DEEP DIVE: KNAPSACK DP VS GREEDY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01. 0/1 KNAPSACK (DP)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BELLMAN RECURRENCE • O(n · W)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Mathematical Formulation:</a:t>
            </a:r>
            <a:br/>
            <a:r>
              <a:t>DP[i][w] = DP[i-1][w]   if w_i &gt; w</a:t>
            </a:r>
            <a:br/>
            <a:r>
              <a:t>DP[i][w] = max(DP[i-1][w], DP[i-1][w - w_i] + p_i)</a:t>
            </a:r>
            <a:br/>
            <a:br/>
            <a:r>
              <a:t>• Table Dimensions: (N + 1) × (W + 1)</a:t>
            </a:r>
            <a:br/>
            <a:r>
              <a:t>• Cell decision: SKIP (item i excluded) vs TAKE (item i included).</a:t>
            </a:r>
            <a:br/>
            <a:r>
              <a:t>• Golden Backtracking: Traces optimal parcel combination.</a:t>
            </a:r>
            <a:br/>
            <a:r>
              <a:t>• Invariant: Guarantees 100% global revenue capture.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02. PROFIT DENSITY GREEDY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DANTZIG RATIO SORT • O(n log n)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Heuristic Formulation:</a:t>
            </a:r>
            <a:br/>
            <a:r>
              <a:t>Calculate ratio r_i = p_i / w_i for each order.</a:t>
            </a:r>
            <a:br/>
            <a:r>
              <a:t>Sort in descending order and greedily insert while weight &lt;= W.</a:t>
            </a:r>
            <a:br/>
            <a:br/>
            <a:r>
              <a:t>• Algorithmic Flaw:</a:t>
            </a:r>
            <a:br/>
            <a:r>
              <a:t>Greedy choice property guarantees optimality only when items are divisible. For discrete parcels, fractional voids waste valuable payload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03. ALTERNATIVE HEURISTICS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SLA &amp; BASELINE POLICIES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Comparative Heuristic Strategies:</a:t>
            </a:r>
            <a:br/>
            <a:br/>
            <a:r>
              <a:t>1. Profit Density: max (p_i / w_i) — 92.4% Optimal.</a:t>
            </a:r>
            <a:br/>
            <a:r>
              <a:t>2. Highest Profit: max p_i — 83.9% Optimal.</a:t>
            </a:r>
            <a:br/>
            <a:r>
              <a:t>   Biased toward heavy orders, under-utilizing vehicle volume.</a:t>
            </a:r>
            <a:br/>
            <a:r>
              <a:t>3. Earliest Deadline First (EDF): min d_i — 85.7% Optimal.</a:t>
            </a:r>
            <a:br/>
            <a:r>
              <a:t>   Prioritizes urgent customer SLAs.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74320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04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41C1C"/>
                </a:solidFill>
                <a:latin typeface="The Seasons"/>
              </a:defRPr>
            </a:pPr>
            <a:r>
              <a:t>DEEP DIVE: DIJKSTRA VS BELLMAN-FORD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DIJKSTRA'S SSSP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MIN-HEAP GREEDY • O((V+E)logV)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Algorithmic Mechanics:</a:t>
            </a:r>
            <a:br/>
            <a:r>
              <a:t>• Initialize dist[start] = 0, dist[v] = ∞</a:t>
            </a:r>
            <a:br/>
            <a:r>
              <a:t>• Push (0, start) to custom Min-Heap Priority Queue.</a:t>
            </a:r>
            <a:br/>
            <a:r>
              <a:t>• Invariant: Extract vertex u with minimum tentative distance. It is permanently finalized.</a:t>
            </a:r>
            <a:br/>
            <a:r>
              <a:t>• Edge Relaxation:</a:t>
            </a:r>
            <a:br/>
            <a:r>
              <a:t>  dist[v] = min(dist[v], dist[u] + w(u,v))</a:t>
            </a:r>
            <a:br/>
            <a:br/>
            <a:r>
              <a:t>Limitation: Requires w(u,v) &gt;= 0. Cannot handle negative toll credits.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BELLMAN-FORD ALGORITHM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DP EDGE RELAXATION • O(V · E)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Algorithmic Mechanics:</a:t>
            </a:r>
            <a:br/>
            <a:r>
              <a:t>• Relaxes all |E| directed edges for |V| - 1 iterations:</a:t>
            </a:r>
            <a:br/>
            <a:r>
              <a:t>  d^(k)[v] = min(d^(k-1)[v], d^(k-1)[u] + w(u,v))</a:t>
            </a:r>
            <a:br/>
            <a:br/>
            <a:r>
              <a:t>• Cycle Detection Invariant:</a:t>
            </a:r>
            <a:br/>
            <a:r>
              <a:t>  If edge (u,v) relaxes on iteration |V|, a negative-weight cycle exists.</a:t>
            </a:r>
            <a:br/>
            <a:br/>
            <a:r>
              <a:t>Benefit: Handles dynamic congestion penalties &amp; toll subsidies without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241C1C"/>
                </a:solidFill>
                <a:latin typeface="Inter"/>
              </a:defRPr>
            </a:pPr>
            <a:r>
              <a:t>PRACTICAL LOGISTICS ROLE</a:t>
            </a:r>
          </a:p>
          <a:p>
            <a:pPr>
              <a:defRPr sz="1100" b="1">
                <a:solidFill>
                  <a:srgbClr val="E85923"/>
                </a:solidFill>
                <a:latin typeface="Inter"/>
              </a:defRPr>
            </a:pPr>
            <a:r>
              <a:t>HYBRID DUAL GRAPH ENGINE</a:t>
            </a:r>
          </a:p>
          <a:p>
            <a:br/>
            <a:pPr>
              <a:defRPr sz="1200">
                <a:solidFill>
                  <a:srgbClr val="241C1C"/>
                </a:solidFill>
                <a:latin typeface="Inter"/>
              </a:defRPr>
            </a:pPr>
            <a:r>
              <a:t>Operational Synergies in SmartRoute:</a:t>
            </a:r>
            <a:br/>
            <a:br/>
            <a:r>
              <a:t>• Primary Navigation: Dijkstra executes in 4.2 ms across Hyderabad corridors for instant turn-by-turn directions.</a:t>
            </a:r>
            <a:br/>
            <a:br/>
            <a:r>
              <a:t>• Congestion Audit: Bellman-Ford runs in background (18.7 ms) to detect traffic deadlock loops and model dynamic subsidies.</a:t>
            </a:r>
            <a:br/>
            <a:br/>
            <a:r>
              <a:t>• Faculty Viva Defense: Demonstrates mastery of both Greedy &amp; DP shortest paths.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stem_architectur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4114800" cy="5623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12080" y="594360"/>
            <a:ext cx="256032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05 •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105156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41C1C"/>
                </a:solidFill>
                <a:latin typeface="The Seasons"/>
              </a:defRPr>
            </a:pPr>
            <a:r>
              <a:t>SMARTROUTE DUAL-ENGINE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201168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923"/>
                </a:solidFill>
                <a:latin typeface="Inter"/>
              </a:defRPr>
            </a:pPr>
            <a:r>
              <a:t>INTEGRATING DAA THEORY WITH ENTERPRISE SOFTWARE: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1. Cargo Packing Engine (Knapsack DP):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Solves 0/1 Knapsack to select optimal parcel subsets under vehicle limits. Evaluates heuristic comparators (Profit Density, EDF) in parallel.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2. Spatial Routing Engine (Dijkstra Min-Heap):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Maintains the Hyderabad road network. Computes shortest turn-by-turn waypoint sequences from Begumpet Hub in 4.2 ms.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3. Congestion &amp; Penalty Auditor (Bellman-Ford):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Validates route stability against dynamic toll surcharges, congestion credits, and negative loops.</a:t>
            </a:r>
          </a:p>
          <a:p>
            <a:br/>
            <a:pPr>
              <a:defRPr sz="1300" b="1">
                <a:solidFill>
                  <a:srgbClr val="241C1C"/>
                </a:solidFill>
                <a:latin typeface="Inter"/>
              </a:defRPr>
            </a:pPr>
            <a:r>
              <a:t>4. Operations Dashboard &amp; Viva Labs: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Interactive Google Maps visualization with live Min-Heap step tracer and 2D DP memoization arithmetic inspector.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347472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05 • SOLUTION &amp;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241C1C"/>
                </a:solidFill>
                <a:latin typeface="The Seasons"/>
              </a:defRPr>
            </a:pPr>
            <a:r>
              <a:t>PROTOTYPE SHOWCASE: OPERATIONS &amp; DIJKSTRA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peration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8463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166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Google Maps Fleet Operations Dashboard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Visualizes Begumpet Central Hub, 35+ delivery nodes across Hyderabad, active corridor routes, and fleet capacity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2_dijks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84632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166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Dijkstra Min-Heap Step Tracer &amp; Hyderabad Graph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Manual Binary Min-Heap step-by-step priority queue playback, edge relaxation logging, and pedagogical viva explanations.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347472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05 • SOLUTION &amp;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241C1C"/>
                </a:solidFill>
                <a:latin typeface="The Seasons"/>
              </a:defRPr>
            </a:pPr>
            <a:r>
              <a:t>PROTOTYPE SHOWCASE: 0/1 KNAPSACK &amp;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4_knaps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8463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166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0/1 Knapsack 2D DP Table &amp; Backtracking Inspector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Complete (N+1) x (W+1) memoization table with cell-level SKIP vs TAKE arithmetic inspector and golden backtracking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6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84632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166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1C1C"/>
                </a:solidFill>
                <a:latin typeface="Inter"/>
              </a:defRPr>
            </a:pPr>
            <a:r>
              <a:t>Multi-Algorithm Benchmark Matrix &amp; Viva Guide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Live empirical metrics comparing DP vs Greedy heuristics, revenue capture, and faculty viva voce cheat sheet with proof sketches.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347472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06 • FINAL OUTCOME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41C1C"/>
                </a:solidFill>
                <a:latin typeface="The Seasons"/>
              </a:defRPr>
            </a:pPr>
            <a:r>
              <a:t>EMPIRICAL BENCHMARK MATRIX ACROSS THE 4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463040"/>
                <a:gridCol w="1188720"/>
                <a:gridCol w="1463040"/>
                <a:gridCol w="1097280"/>
                <a:gridCol w="1828800"/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4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PARADIGM</a:t>
                      </a:r>
                    </a:p>
                  </a:txBody>
                  <a:tcPr>
                    <a:solidFill>
                      <a:srgbClr val="24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24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SPACE</a:t>
                      </a:r>
                    </a:p>
                  </a:txBody>
                  <a:tcPr>
                    <a:solidFill>
                      <a:srgbClr val="24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PROFIT / METRIC</a:t>
                      </a:r>
                    </a:p>
                  </a:txBody>
                  <a:tcPr>
                    <a:solidFill>
                      <a:srgbClr val="24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24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PRACTICAL ROLE</a:t>
                      </a:r>
                    </a:p>
                  </a:txBody>
                  <a:tcPr>
                    <a:solidFill>
                      <a:srgbClr val="241C1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0/1 Knapsack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Dynamic Prog.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O(n · W) Pseudo-poly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O(n ·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5923"/>
                          </a:solidFill>
                          <a:latin typeface="Inter"/>
                        </a:defRPr>
                      </a:pPr>
                      <a:r>
                        <a:t>Rs. 16,450 (100% Opt)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8.2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Global Cargo Maximization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Profit Density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Greedy Heuristic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5923"/>
                          </a:solidFill>
                          <a:latin typeface="Inter"/>
                        </a:defRPr>
                      </a:pPr>
                      <a:r>
                        <a:t>Rs. 15,200 (92.4% Opt)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0.4 ms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Rapid Cargo Dispatching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Highest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Greedy Heuristic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5923"/>
                          </a:solidFill>
                          <a:latin typeface="Inter"/>
                        </a:defRPr>
                      </a:pPr>
                      <a:r>
                        <a:t>Rs. 13,800 (83.9% Opt)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0.3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Baseline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Dijkstra's SSSP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Greedy (Min-Heap)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O((V + E) log V)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O(V)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5923"/>
                          </a:solidFill>
                          <a:latin typeface="Inter"/>
                        </a:defRPr>
                      </a:pPr>
                      <a:r>
                        <a:t>142.6 km Optimal Path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4.2 ms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Real-Time Fleet Navigation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Bellman-Ford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Dynamic Prog.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O(V · 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O(V)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5923"/>
                          </a:solidFill>
                          <a:latin typeface="Inter"/>
                        </a:defRPr>
                      </a:pPr>
                      <a:r>
                        <a:t>142.6 km + Cycle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18.7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41C1C"/>
                          </a:solidFill>
                          <a:latin typeface="Inter"/>
                        </a:defRPr>
                      </a:pPr>
                      <a:r>
                        <a:t>Congestion Penalty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347472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SECTION 06 • FINAL OUTCOME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41C1C"/>
                </a:solidFill>
                <a:latin typeface="The Seasons"/>
              </a:defRPr>
            </a:pPr>
            <a:r>
              <a:t>KEY QUANTITATIVE OUTCOMES &amp; FLEET IMPACT</a:t>
            </a:r>
          </a:p>
        </p:txBody>
      </p:sp>
      <p:pic>
        <p:nvPicPr>
          <p:cNvPr id="4" name="Picture 3" descr="diag_metric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328416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16636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1C1C"/>
                </a:solidFill>
                <a:latin typeface="Inter"/>
              </a:defRPr>
            </a:pPr>
            <a:r>
              <a:t>+99.4% PROFIT CAPTURE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0/1 KNAPSACK DOMINANCE  —  0/1 Knapsack captured Rs. 16,450, outperforming greedy heuristics by up to Rs. 2,650 (+16.1%) per trip.</a:t>
            </a:r>
          </a:p>
        </p:txBody>
      </p:sp>
      <p:pic>
        <p:nvPicPr>
          <p:cNvPr id="6" name="Picture 5" descr="diag_metric_dis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737360"/>
            <a:ext cx="3328416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25696" y="516636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1C1C"/>
                </a:solidFill>
                <a:latin typeface="Inter"/>
              </a:defRPr>
            </a:pPr>
            <a:r>
              <a:t>-32.8% TRANSIT DISTANCE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DIJKSTRA MIN-HEAP SSSP  —  Dijkstra's shortest path cut fleet mileage from 212.4 km down to 142.6 km (-24.5% fuel expenditure).</a:t>
            </a:r>
          </a:p>
        </p:txBody>
      </p:sp>
      <p:pic>
        <p:nvPicPr>
          <p:cNvPr id="8" name="Picture 7" descr="diag_metric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737360"/>
            <a:ext cx="3328416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19872" y="516636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1C1C"/>
                </a:solidFill>
                <a:latin typeface="Inter"/>
              </a:defRPr>
            </a:pPr>
            <a:r>
              <a:t>SUB-10MS LATENCY</a:t>
            </a:r>
          </a:p>
          <a:p>
            <a:pPr>
              <a:defRPr sz="1100">
                <a:solidFill>
                  <a:srgbClr val="645A55"/>
                </a:solidFill>
                <a:latin typeface="Inter"/>
              </a:defRPr>
            </a:pPr>
            <a:r>
              <a:t>REAL-TIME COMPUTATION  —  Full dual-engine pipeline runs in 8.2 ms, easily supporting over 1,000 active driver dispatch requests.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41148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7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va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77240"/>
            <a:ext cx="3749039" cy="5257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212080" y="594360"/>
            <a:ext cx="310896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PROJECT ATTRIBUTION &amp;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09728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241C1C"/>
                </a:solidFill>
                <a:latin typeface="The Seasons"/>
              </a:defRPr>
            </a:pPr>
            <a:r>
              <a:t>PROJECT CREDITS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01168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5923"/>
                </a:solidFill>
                <a:latin typeface="Inter"/>
              </a:defRPr>
            </a:pPr>
            <a:r>
              <a:t>COURSE INSTRUCTOR &amp; MENTOR:</a:t>
            </a:r>
          </a:p>
          <a:p>
            <a:pPr>
              <a:defRPr sz="2600" b="1">
                <a:solidFill>
                  <a:srgbClr val="241C1C"/>
                </a:solidFill>
                <a:latin typeface="The Seasons"/>
              </a:defRPr>
            </a:pPr>
            <a:r>
              <a:t>Dr. Syed Javed Pasha</a:t>
            </a:r>
          </a:p>
          <a:p>
            <a:pPr>
              <a:defRPr sz="1200">
                <a:solidFill>
                  <a:srgbClr val="645A55"/>
                </a:solidFill>
                <a:latin typeface="Inter"/>
              </a:defRPr>
            </a:pPr>
            <a:r>
              <a:t>Course Coordinator &amp; Project Mentor • Department of Computer Science &amp; Engineering</a:t>
            </a:r>
            <a:br/>
            <a:r>
              <a:t>Woxsen University, School of Technology</a:t>
            </a:r>
            <a:br/>
          </a:p>
          <a:p>
            <a:pPr>
              <a:defRPr sz="1300" b="1">
                <a:solidFill>
                  <a:srgbClr val="E85923"/>
                </a:solidFill>
                <a:latin typeface="Inter"/>
              </a:defRPr>
            </a:pPr>
            <a:r>
              <a:t>STUDENT PROJECT TEAM:</a:t>
            </a:r>
          </a:p>
          <a:p>
            <a:pPr>
              <a:defRPr sz="1250">
                <a:solidFill>
                  <a:srgbClr val="241C1C"/>
                </a:solidFill>
                <a:latin typeface="Inter"/>
              </a:defRPr>
            </a:pPr>
            <a:r>
              <a:t>• Himanshu Pandit  —  Lead System Architect &amp; Algorithm Engineer</a:t>
            </a:r>
          </a:p>
          <a:p>
            <a:pPr>
              <a:defRPr sz="1250">
                <a:solidFill>
                  <a:srgbClr val="241C1C"/>
                </a:solidFill>
                <a:latin typeface="Inter"/>
              </a:defRPr>
            </a:pPr>
            <a:r>
              <a:t>• Devyani Pawar  —  Graph &amp; Network Modeling Specialist</a:t>
            </a:r>
          </a:p>
          <a:p>
            <a:pPr>
              <a:defRPr sz="1250">
                <a:solidFill>
                  <a:srgbClr val="241C1C"/>
                </a:solidFill>
                <a:latin typeface="Inter"/>
              </a:defRPr>
            </a:pPr>
            <a:r>
              <a:t>• Heman  —  Dynamic Programming &amp; Benchmark Developer</a:t>
            </a:r>
          </a:p>
          <a:p>
            <a:pPr>
              <a:defRPr sz="1250">
                <a:solidFill>
                  <a:srgbClr val="241C1C"/>
                </a:solidFill>
                <a:latin typeface="Inter"/>
              </a:defRPr>
            </a:pPr>
            <a:r>
              <a:t>• Rimika Jain  —  Heuristic Optimization &amp; UI Integration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4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241C1C"/>
                </a:solidFill>
                <a:latin typeface="The Season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923"/>
                </a:solidFill>
                <a:latin typeface="Inter"/>
              </a:defRPr>
            </a:pPr>
            <a:r>
              <a:t>SMARTROUTE: ALGORITHMIC OPTIMIZATION FOR LAST-MILE LOGISTICS</a:t>
            </a:r>
          </a:p>
        </p:txBody>
      </p:sp>
      <p:pic>
        <p:nvPicPr>
          <p:cNvPr id="4" name="Picture 3" descr="hero_cov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10728655" cy="3383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852160"/>
            <a:ext cx="5669280" cy="384048"/>
          </a:xfrm>
          <a:prstGeom prst="roundRect">
            <a:avLst/>
          </a:prstGeom>
          <a:solidFill>
            <a:srgbClr val="2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OPEN FOR FACULTY VIVA VOCE QUESTIONS &amp; ALGORITHM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85216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41C1C"/>
                </a:solidFill>
                <a:latin typeface="Inter"/>
              </a:defRPr>
            </a:pPr>
            <a:r>
              <a:t>GITHUB: https://github.com/Himanshu-Git-101/DAA_PBL   |   WOXSEN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